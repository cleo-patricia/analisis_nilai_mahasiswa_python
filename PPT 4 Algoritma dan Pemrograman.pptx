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8" r:id="rId2"/>
    <p:sldId id="340" r:id="rId3"/>
    <p:sldId id="362" r:id="rId4"/>
    <p:sldId id="358" r:id="rId5"/>
    <p:sldId id="359" r:id="rId6"/>
    <p:sldId id="360" r:id="rId7"/>
    <p:sldId id="363" r:id="rId8"/>
    <p:sldId id="364" r:id="rId9"/>
    <p:sldId id="354" r:id="rId10"/>
    <p:sldId id="355" r:id="rId11"/>
    <p:sldId id="357" r:id="rId12"/>
    <p:sldId id="361" r:id="rId13"/>
    <p:sldId id="356" r:id="rId14"/>
    <p:sldId id="366" r:id="rId15"/>
    <p:sldId id="367" r:id="rId16"/>
    <p:sldId id="368" r:id="rId17"/>
    <p:sldId id="369" r:id="rId18"/>
    <p:sldId id="3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A045"/>
    <a:srgbClr val="DA25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73" autoAdjust="0"/>
    <p:restoredTop sz="94660"/>
  </p:normalViewPr>
  <p:slideViewPr>
    <p:cSldViewPr snapToGrid="0">
      <p:cViewPr>
        <p:scale>
          <a:sx n="75" d="100"/>
          <a:sy n="75" d="100"/>
        </p:scale>
        <p:origin x="65"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0641C3-4875-4A13-A668-62574FEF20A8}" type="datetimeFigureOut">
              <a:rPr lang="en-ID" smtClean="0"/>
              <a:t>16/09/2025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DCFA2E-66B2-4403-9B57-E252F8A9DF90}" type="slidenum">
              <a:rPr lang="en-ID" smtClean="0"/>
              <a:t>‹#›</a:t>
            </a:fld>
            <a:endParaRPr lang="en-ID"/>
          </a:p>
        </p:txBody>
      </p:sp>
    </p:spTree>
    <p:extLst>
      <p:ext uri="{BB962C8B-B14F-4D97-AF65-F5344CB8AC3E}">
        <p14:creationId xmlns:p14="http://schemas.microsoft.com/office/powerpoint/2010/main" val="3366049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E580-E776-0FF9-7D12-5D915591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24735-FB1C-E9B6-8119-83F8493FD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22E6F-2DC7-ECE7-F735-E9ECB0D66D39}"/>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2BAF79E0-7BBB-A318-D589-25EACD9AAE3C}"/>
              </a:ext>
            </a:extLst>
          </p:cNvPr>
          <p:cNvSpPr>
            <a:spLocks noGrp="1"/>
          </p:cNvSpPr>
          <p:nvPr>
            <p:ph type="sldNum" sz="quarter" idx="5"/>
          </p:nvPr>
        </p:nvSpPr>
        <p:spPr/>
        <p:txBody>
          <a:bodyPr/>
          <a:lstStyle/>
          <a:p>
            <a:fld id="{3ADCFA2E-66B2-4403-9B57-E252F8A9DF90}" type="slidenum">
              <a:rPr lang="en-ID" smtClean="0"/>
              <a:t>2</a:t>
            </a:fld>
            <a:endParaRPr lang="en-ID"/>
          </a:p>
        </p:txBody>
      </p:sp>
    </p:spTree>
    <p:extLst>
      <p:ext uri="{BB962C8B-B14F-4D97-AF65-F5344CB8AC3E}">
        <p14:creationId xmlns:p14="http://schemas.microsoft.com/office/powerpoint/2010/main" val="2605784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53ED-9239-0FAD-516E-58728677C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110F6-E79A-38A3-10DC-3029072D9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BB114-BABD-A925-6570-0CF25124DDBF}"/>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DD7CCE46-5CD6-154C-984F-C89CDB133C56}"/>
              </a:ext>
            </a:extLst>
          </p:cNvPr>
          <p:cNvSpPr>
            <a:spLocks noGrp="1"/>
          </p:cNvSpPr>
          <p:nvPr>
            <p:ph type="sldNum" sz="quarter" idx="5"/>
          </p:nvPr>
        </p:nvSpPr>
        <p:spPr/>
        <p:txBody>
          <a:bodyPr/>
          <a:lstStyle/>
          <a:p>
            <a:fld id="{3ADCFA2E-66B2-4403-9B57-E252F8A9DF90}" type="slidenum">
              <a:rPr lang="en-ID" smtClean="0"/>
              <a:t>3</a:t>
            </a:fld>
            <a:endParaRPr lang="en-ID"/>
          </a:p>
        </p:txBody>
      </p:sp>
    </p:spTree>
    <p:extLst>
      <p:ext uri="{BB962C8B-B14F-4D97-AF65-F5344CB8AC3E}">
        <p14:creationId xmlns:p14="http://schemas.microsoft.com/office/powerpoint/2010/main" val="3746540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C0ACD-264A-001F-5457-BF20F540C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39B45-28D5-777B-548F-B415EB562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8C439-50EB-F382-4D2F-7C41A0FF0634}"/>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AB0C84CC-B338-9C2F-AC40-86D751234F0C}"/>
              </a:ext>
            </a:extLst>
          </p:cNvPr>
          <p:cNvSpPr>
            <a:spLocks noGrp="1"/>
          </p:cNvSpPr>
          <p:nvPr>
            <p:ph type="sldNum" sz="quarter" idx="5"/>
          </p:nvPr>
        </p:nvSpPr>
        <p:spPr/>
        <p:txBody>
          <a:bodyPr/>
          <a:lstStyle/>
          <a:p>
            <a:fld id="{3ADCFA2E-66B2-4403-9B57-E252F8A9DF90}" type="slidenum">
              <a:rPr lang="en-ID" smtClean="0"/>
              <a:t>4</a:t>
            </a:fld>
            <a:endParaRPr lang="en-ID"/>
          </a:p>
        </p:txBody>
      </p:sp>
    </p:spTree>
    <p:extLst>
      <p:ext uri="{BB962C8B-B14F-4D97-AF65-F5344CB8AC3E}">
        <p14:creationId xmlns:p14="http://schemas.microsoft.com/office/powerpoint/2010/main" val="1207172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541F-D7F9-5DED-45C0-68D38BD9B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E97ED-A491-C83C-3492-167E0D2BC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D03CD-CF11-6982-F287-940EE58DF6C7}"/>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AC78F029-8F16-6381-FC69-3DE70384D7C8}"/>
              </a:ext>
            </a:extLst>
          </p:cNvPr>
          <p:cNvSpPr>
            <a:spLocks noGrp="1"/>
          </p:cNvSpPr>
          <p:nvPr>
            <p:ph type="sldNum" sz="quarter" idx="5"/>
          </p:nvPr>
        </p:nvSpPr>
        <p:spPr/>
        <p:txBody>
          <a:bodyPr/>
          <a:lstStyle/>
          <a:p>
            <a:fld id="{3ADCFA2E-66B2-4403-9B57-E252F8A9DF90}" type="slidenum">
              <a:rPr lang="en-ID" smtClean="0"/>
              <a:t>5</a:t>
            </a:fld>
            <a:endParaRPr lang="en-ID"/>
          </a:p>
        </p:txBody>
      </p:sp>
    </p:spTree>
    <p:extLst>
      <p:ext uri="{BB962C8B-B14F-4D97-AF65-F5344CB8AC3E}">
        <p14:creationId xmlns:p14="http://schemas.microsoft.com/office/powerpoint/2010/main" val="1130371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EA16A-2299-46B3-3685-1D9EFD6C4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020ED-AE24-1038-B836-6FBEE3B56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56589-E66E-43B7-BF2C-6BB015C6C8F2}"/>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B0E71D3B-7378-3F96-755C-1F3E851A4603}"/>
              </a:ext>
            </a:extLst>
          </p:cNvPr>
          <p:cNvSpPr>
            <a:spLocks noGrp="1"/>
          </p:cNvSpPr>
          <p:nvPr>
            <p:ph type="sldNum" sz="quarter" idx="5"/>
          </p:nvPr>
        </p:nvSpPr>
        <p:spPr/>
        <p:txBody>
          <a:bodyPr/>
          <a:lstStyle/>
          <a:p>
            <a:fld id="{3ADCFA2E-66B2-4403-9B57-E252F8A9DF90}" type="slidenum">
              <a:rPr lang="en-ID" smtClean="0"/>
              <a:t>6</a:t>
            </a:fld>
            <a:endParaRPr lang="en-ID"/>
          </a:p>
        </p:txBody>
      </p:sp>
    </p:spTree>
    <p:extLst>
      <p:ext uri="{BB962C8B-B14F-4D97-AF65-F5344CB8AC3E}">
        <p14:creationId xmlns:p14="http://schemas.microsoft.com/office/powerpoint/2010/main" val="2151715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61E4A-3C9B-7C71-31B1-7B82BDD4B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F7222-50B8-49CF-E16C-468D92A6E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639B0-6A54-54A0-65F7-C35175FD3356}"/>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92AE29A8-4425-8991-9642-2A0DDD6BAC5C}"/>
              </a:ext>
            </a:extLst>
          </p:cNvPr>
          <p:cNvSpPr>
            <a:spLocks noGrp="1"/>
          </p:cNvSpPr>
          <p:nvPr>
            <p:ph type="sldNum" sz="quarter" idx="5"/>
          </p:nvPr>
        </p:nvSpPr>
        <p:spPr/>
        <p:txBody>
          <a:bodyPr/>
          <a:lstStyle/>
          <a:p>
            <a:fld id="{3ADCFA2E-66B2-4403-9B57-E252F8A9DF90}" type="slidenum">
              <a:rPr lang="en-ID" smtClean="0"/>
              <a:t>7</a:t>
            </a:fld>
            <a:endParaRPr lang="en-ID"/>
          </a:p>
        </p:txBody>
      </p:sp>
    </p:spTree>
    <p:extLst>
      <p:ext uri="{BB962C8B-B14F-4D97-AF65-F5344CB8AC3E}">
        <p14:creationId xmlns:p14="http://schemas.microsoft.com/office/powerpoint/2010/main" val="307567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9034-B70C-BC2E-97FE-737F2F4FB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E497F-DF9D-5C3B-86C5-0AF782E53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3C2F0-AB4E-DBD5-A52F-FBC9107C7538}"/>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0C73E627-1AEC-2AB6-DDA7-E157935F1E10}"/>
              </a:ext>
            </a:extLst>
          </p:cNvPr>
          <p:cNvSpPr>
            <a:spLocks noGrp="1"/>
          </p:cNvSpPr>
          <p:nvPr>
            <p:ph type="sldNum" sz="quarter" idx="5"/>
          </p:nvPr>
        </p:nvSpPr>
        <p:spPr/>
        <p:txBody>
          <a:bodyPr/>
          <a:lstStyle/>
          <a:p>
            <a:fld id="{3ADCFA2E-66B2-4403-9B57-E252F8A9DF90}" type="slidenum">
              <a:rPr lang="en-ID" smtClean="0"/>
              <a:t>8</a:t>
            </a:fld>
            <a:endParaRPr lang="en-ID"/>
          </a:p>
        </p:txBody>
      </p:sp>
    </p:spTree>
    <p:extLst>
      <p:ext uri="{BB962C8B-B14F-4D97-AF65-F5344CB8AC3E}">
        <p14:creationId xmlns:p14="http://schemas.microsoft.com/office/powerpoint/2010/main" val="1532096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54110-859B-70AF-C0D6-5FFC5335A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AA9F4-BC5A-7CF7-DE11-147BB59D8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4B9D5-EC53-98E1-8E11-7C262FDA1C6F}"/>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1F65ECAA-94F2-E3E7-A2EA-ADC803B836B3}"/>
              </a:ext>
            </a:extLst>
          </p:cNvPr>
          <p:cNvSpPr>
            <a:spLocks noGrp="1"/>
          </p:cNvSpPr>
          <p:nvPr>
            <p:ph type="sldNum" sz="quarter" idx="5"/>
          </p:nvPr>
        </p:nvSpPr>
        <p:spPr/>
        <p:txBody>
          <a:bodyPr/>
          <a:lstStyle/>
          <a:p>
            <a:fld id="{3ADCFA2E-66B2-4403-9B57-E252F8A9DF90}" type="slidenum">
              <a:rPr lang="en-ID" smtClean="0"/>
              <a:t>9</a:t>
            </a:fld>
            <a:endParaRPr lang="en-ID"/>
          </a:p>
        </p:txBody>
      </p:sp>
    </p:spTree>
    <p:extLst>
      <p:ext uri="{BB962C8B-B14F-4D97-AF65-F5344CB8AC3E}">
        <p14:creationId xmlns:p14="http://schemas.microsoft.com/office/powerpoint/2010/main" val="146900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A7642-16F9-19CE-3ED1-7DC38AF35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50CFD-912D-15E1-7A75-4A9CF069D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5B0AD-3086-21E4-A0B2-F4A2B6962D58}"/>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AE01CB28-A0AF-D9A1-8BA3-0BD2846BDD8C}"/>
              </a:ext>
            </a:extLst>
          </p:cNvPr>
          <p:cNvSpPr>
            <a:spLocks noGrp="1"/>
          </p:cNvSpPr>
          <p:nvPr>
            <p:ph type="sldNum" sz="quarter" idx="5"/>
          </p:nvPr>
        </p:nvSpPr>
        <p:spPr/>
        <p:txBody>
          <a:bodyPr/>
          <a:lstStyle/>
          <a:p>
            <a:fld id="{3ADCFA2E-66B2-4403-9B57-E252F8A9DF90}" type="slidenum">
              <a:rPr lang="en-ID" smtClean="0"/>
              <a:t>10</a:t>
            </a:fld>
            <a:endParaRPr lang="en-ID"/>
          </a:p>
        </p:txBody>
      </p:sp>
    </p:spTree>
    <p:extLst>
      <p:ext uri="{BB962C8B-B14F-4D97-AF65-F5344CB8AC3E}">
        <p14:creationId xmlns:p14="http://schemas.microsoft.com/office/powerpoint/2010/main" val="982558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FCF27-8AFF-6325-4D69-E2C448498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DA5B9-1745-A3C4-B7DD-445DE16D8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CC835-07E8-C255-82B5-858C0CCF34CF}"/>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B362A760-7054-5A3D-B395-ABF8DE785A7A}"/>
              </a:ext>
            </a:extLst>
          </p:cNvPr>
          <p:cNvSpPr>
            <a:spLocks noGrp="1"/>
          </p:cNvSpPr>
          <p:nvPr>
            <p:ph type="sldNum" sz="quarter" idx="5"/>
          </p:nvPr>
        </p:nvSpPr>
        <p:spPr/>
        <p:txBody>
          <a:bodyPr/>
          <a:lstStyle/>
          <a:p>
            <a:fld id="{3ADCFA2E-66B2-4403-9B57-E252F8A9DF90}" type="slidenum">
              <a:rPr lang="en-ID" smtClean="0"/>
              <a:t>11</a:t>
            </a:fld>
            <a:endParaRPr lang="en-ID"/>
          </a:p>
        </p:txBody>
      </p:sp>
    </p:spTree>
    <p:extLst>
      <p:ext uri="{BB962C8B-B14F-4D97-AF65-F5344CB8AC3E}">
        <p14:creationId xmlns:p14="http://schemas.microsoft.com/office/powerpoint/2010/main" val="2777212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94DF-EAF0-A86F-7C5B-A467DA0C0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B1BF7-74A1-2812-5716-7E3E1F954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062C3-B83C-B37F-507D-A5AA6ABCB7CF}"/>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2363B6C9-7E0D-6E27-484B-BBB101002F6F}"/>
              </a:ext>
            </a:extLst>
          </p:cNvPr>
          <p:cNvSpPr>
            <a:spLocks noGrp="1"/>
          </p:cNvSpPr>
          <p:nvPr>
            <p:ph type="sldNum" sz="quarter" idx="5"/>
          </p:nvPr>
        </p:nvSpPr>
        <p:spPr/>
        <p:txBody>
          <a:bodyPr/>
          <a:lstStyle/>
          <a:p>
            <a:fld id="{3ADCFA2E-66B2-4403-9B57-E252F8A9DF90}" type="slidenum">
              <a:rPr lang="en-ID" smtClean="0"/>
              <a:t>12</a:t>
            </a:fld>
            <a:endParaRPr lang="en-ID"/>
          </a:p>
        </p:txBody>
      </p:sp>
    </p:spTree>
    <p:extLst>
      <p:ext uri="{BB962C8B-B14F-4D97-AF65-F5344CB8AC3E}">
        <p14:creationId xmlns:p14="http://schemas.microsoft.com/office/powerpoint/2010/main" val="643389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439D2-ECF3-3C65-D1FC-8F0CF087A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ED607-1ED9-5A42-AB83-C3DB8FA7C6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2B33C-0A8E-5D33-EC81-9CF638CE93AC}"/>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50630A4F-2470-56CD-002F-81F648A609C0}"/>
              </a:ext>
            </a:extLst>
          </p:cNvPr>
          <p:cNvSpPr>
            <a:spLocks noGrp="1"/>
          </p:cNvSpPr>
          <p:nvPr>
            <p:ph type="sldNum" sz="quarter" idx="5"/>
          </p:nvPr>
        </p:nvSpPr>
        <p:spPr/>
        <p:txBody>
          <a:bodyPr/>
          <a:lstStyle/>
          <a:p>
            <a:fld id="{3ADCFA2E-66B2-4403-9B57-E252F8A9DF90}" type="slidenum">
              <a:rPr lang="en-ID" smtClean="0"/>
              <a:t>13</a:t>
            </a:fld>
            <a:endParaRPr lang="en-ID"/>
          </a:p>
        </p:txBody>
      </p:sp>
    </p:spTree>
    <p:extLst>
      <p:ext uri="{BB962C8B-B14F-4D97-AF65-F5344CB8AC3E}">
        <p14:creationId xmlns:p14="http://schemas.microsoft.com/office/powerpoint/2010/main" val="3323362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E024F-3F77-39F1-8CBC-4E1DCB076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67AFE-50A7-BFD4-196D-B99DA50BA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47EDB-AC45-5C9F-743A-09DD98B50023}"/>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9AFF9EDA-F2BC-2EAA-9B21-204E680C36DE}"/>
              </a:ext>
            </a:extLst>
          </p:cNvPr>
          <p:cNvSpPr>
            <a:spLocks noGrp="1"/>
          </p:cNvSpPr>
          <p:nvPr>
            <p:ph type="sldNum" sz="quarter" idx="5"/>
          </p:nvPr>
        </p:nvSpPr>
        <p:spPr/>
        <p:txBody>
          <a:bodyPr/>
          <a:lstStyle/>
          <a:p>
            <a:fld id="{3ADCFA2E-66B2-4403-9B57-E252F8A9DF90}" type="slidenum">
              <a:rPr lang="en-ID" smtClean="0"/>
              <a:t>14</a:t>
            </a:fld>
            <a:endParaRPr lang="en-ID"/>
          </a:p>
        </p:txBody>
      </p:sp>
    </p:spTree>
    <p:extLst>
      <p:ext uri="{BB962C8B-B14F-4D97-AF65-F5344CB8AC3E}">
        <p14:creationId xmlns:p14="http://schemas.microsoft.com/office/powerpoint/2010/main" val="1506029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FA35-8551-8BA7-B98D-38060FAB8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2DEAB-6DC7-35C1-A270-4D9B10C2E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298BE-FEC1-1271-FE96-15CC11EEAC1E}"/>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2FC45BE3-2323-B63F-6C04-ADE1629867D4}"/>
              </a:ext>
            </a:extLst>
          </p:cNvPr>
          <p:cNvSpPr>
            <a:spLocks noGrp="1"/>
          </p:cNvSpPr>
          <p:nvPr>
            <p:ph type="sldNum" sz="quarter" idx="5"/>
          </p:nvPr>
        </p:nvSpPr>
        <p:spPr/>
        <p:txBody>
          <a:bodyPr/>
          <a:lstStyle/>
          <a:p>
            <a:fld id="{3ADCFA2E-66B2-4403-9B57-E252F8A9DF90}" type="slidenum">
              <a:rPr lang="en-ID" smtClean="0"/>
              <a:t>15</a:t>
            </a:fld>
            <a:endParaRPr lang="en-ID"/>
          </a:p>
        </p:txBody>
      </p:sp>
    </p:spTree>
    <p:extLst>
      <p:ext uri="{BB962C8B-B14F-4D97-AF65-F5344CB8AC3E}">
        <p14:creationId xmlns:p14="http://schemas.microsoft.com/office/powerpoint/2010/main" val="1311752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3D834-5C62-622C-F331-F2CADF5D1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A1638-702B-0264-ED92-8908628BA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706AC-494C-D869-11E9-B5A5D91E8757}"/>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3A6C2844-C772-A5C2-E817-20F31CB54458}"/>
              </a:ext>
            </a:extLst>
          </p:cNvPr>
          <p:cNvSpPr>
            <a:spLocks noGrp="1"/>
          </p:cNvSpPr>
          <p:nvPr>
            <p:ph type="sldNum" sz="quarter" idx="5"/>
          </p:nvPr>
        </p:nvSpPr>
        <p:spPr/>
        <p:txBody>
          <a:bodyPr/>
          <a:lstStyle/>
          <a:p>
            <a:fld id="{3ADCFA2E-66B2-4403-9B57-E252F8A9DF90}" type="slidenum">
              <a:rPr lang="en-ID" smtClean="0"/>
              <a:t>16</a:t>
            </a:fld>
            <a:endParaRPr lang="en-ID"/>
          </a:p>
        </p:txBody>
      </p:sp>
    </p:spTree>
    <p:extLst>
      <p:ext uri="{BB962C8B-B14F-4D97-AF65-F5344CB8AC3E}">
        <p14:creationId xmlns:p14="http://schemas.microsoft.com/office/powerpoint/2010/main" val="689621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948A-2CD1-BCBE-5616-E822FAA97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EEAF1-A59C-CA20-C886-9C118B4B0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8C66D-767F-5029-9A2B-7193E61D2FAD}"/>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43BFF13A-E8C1-DCE6-CED3-B02CCE030694}"/>
              </a:ext>
            </a:extLst>
          </p:cNvPr>
          <p:cNvSpPr>
            <a:spLocks noGrp="1"/>
          </p:cNvSpPr>
          <p:nvPr>
            <p:ph type="sldNum" sz="quarter" idx="5"/>
          </p:nvPr>
        </p:nvSpPr>
        <p:spPr/>
        <p:txBody>
          <a:bodyPr/>
          <a:lstStyle/>
          <a:p>
            <a:fld id="{3ADCFA2E-66B2-4403-9B57-E252F8A9DF90}" type="slidenum">
              <a:rPr lang="en-ID" smtClean="0"/>
              <a:t>17</a:t>
            </a:fld>
            <a:endParaRPr lang="en-ID"/>
          </a:p>
        </p:txBody>
      </p:sp>
    </p:spTree>
    <p:extLst>
      <p:ext uri="{BB962C8B-B14F-4D97-AF65-F5344CB8AC3E}">
        <p14:creationId xmlns:p14="http://schemas.microsoft.com/office/powerpoint/2010/main" val="1347282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9F87-60E4-1D93-3BC6-4FCAC1526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7F185-4706-1A29-1E13-238F7976A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69B2E-C4DE-2B05-CA73-9F48437E497C}"/>
              </a:ext>
            </a:extLst>
          </p:cNvPr>
          <p:cNvSpPr>
            <a:spLocks noGrp="1"/>
          </p:cNvSpPr>
          <p:nvPr>
            <p:ph type="body" idx="1"/>
          </p:nvPr>
        </p:nvSpPr>
        <p:spPr/>
        <p:txBody>
          <a:bodyPr/>
          <a:lstStyle/>
          <a:p>
            <a:endParaRPr lang="en-ID"/>
          </a:p>
        </p:txBody>
      </p:sp>
      <p:sp>
        <p:nvSpPr>
          <p:cNvPr id="4" name="Slide Number Placeholder 3">
            <a:extLst>
              <a:ext uri="{FF2B5EF4-FFF2-40B4-BE49-F238E27FC236}">
                <a16:creationId xmlns:a16="http://schemas.microsoft.com/office/drawing/2014/main" id="{ABBBF08B-87B9-4E6E-2C03-234FD423385F}"/>
              </a:ext>
            </a:extLst>
          </p:cNvPr>
          <p:cNvSpPr>
            <a:spLocks noGrp="1"/>
          </p:cNvSpPr>
          <p:nvPr>
            <p:ph type="sldNum" sz="quarter" idx="5"/>
          </p:nvPr>
        </p:nvSpPr>
        <p:spPr/>
        <p:txBody>
          <a:bodyPr/>
          <a:lstStyle/>
          <a:p>
            <a:fld id="{3ADCFA2E-66B2-4403-9B57-E252F8A9DF90}" type="slidenum">
              <a:rPr lang="en-ID" smtClean="0"/>
              <a:t>18</a:t>
            </a:fld>
            <a:endParaRPr lang="en-ID"/>
          </a:p>
        </p:txBody>
      </p:sp>
    </p:spTree>
    <p:extLst>
      <p:ext uri="{BB962C8B-B14F-4D97-AF65-F5344CB8AC3E}">
        <p14:creationId xmlns:p14="http://schemas.microsoft.com/office/powerpoint/2010/main" val="2748630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037DF-15A3-CB39-B04A-C693D19E46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6E8F89BF-96C5-4817-7B41-AD0D78B640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51350A08-7F1C-9022-E980-E32514EB7D0D}"/>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5" name="Footer Placeholder 4">
            <a:extLst>
              <a:ext uri="{FF2B5EF4-FFF2-40B4-BE49-F238E27FC236}">
                <a16:creationId xmlns:a16="http://schemas.microsoft.com/office/drawing/2014/main" id="{D72D63AA-5F07-F7C4-39CA-F43E6909E42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A405AEC-60CE-3882-70FA-D17F48E29A95}"/>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3467861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08E1B-8B62-3C7F-60FA-1514BA605A42}"/>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255D7002-B431-29CF-414F-8E027FC2EE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8269A94A-77C2-11E1-A103-DE88B3043157}"/>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5" name="Footer Placeholder 4">
            <a:extLst>
              <a:ext uri="{FF2B5EF4-FFF2-40B4-BE49-F238E27FC236}">
                <a16:creationId xmlns:a16="http://schemas.microsoft.com/office/drawing/2014/main" id="{313C9879-BBEA-0372-4F7D-29A078E115F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03D3D35-E7F1-433D-EA32-79D1BA214AFB}"/>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340871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D55B-829A-A82C-0F28-A886AE0B12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3A547964-F307-1819-09C9-0E7BFC70A7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1731C5-5D4B-A1EA-F788-1CECF5F8FF70}"/>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5" name="Footer Placeholder 4">
            <a:extLst>
              <a:ext uri="{FF2B5EF4-FFF2-40B4-BE49-F238E27FC236}">
                <a16:creationId xmlns:a16="http://schemas.microsoft.com/office/drawing/2014/main" id="{4A8847B3-C509-70A9-0CB9-9C73EFD62D4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1F14B39-20B8-0F87-A03F-C14070C0406B}"/>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3390953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E7D54-E8FE-D096-DC27-39DDE7574EA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39ACC04-6A21-09B3-080C-B9D34C1C0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E45CDC07-C24C-AFAE-5EE5-950D51C99A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DCE82547-1967-DE32-8444-44A582E85FFC}"/>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6" name="Footer Placeholder 5">
            <a:extLst>
              <a:ext uri="{FF2B5EF4-FFF2-40B4-BE49-F238E27FC236}">
                <a16:creationId xmlns:a16="http://schemas.microsoft.com/office/drawing/2014/main" id="{8B584783-317F-C9F0-F5D0-D35062D0F98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1611A451-86A2-21B0-3800-197D9888E28F}"/>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1357898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71381-4542-48C3-938F-EBB0A2BB6F78}"/>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46F9FC38-E60E-256D-1D4B-493EC7AEDC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A9DEAB-AB18-939C-AC2A-E602E4D358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99ABDCAA-1F82-84D1-A497-9E9F99BDDE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F8000C-9A74-3A94-2C78-7B229AE558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A3A23525-A641-12B4-0D5D-A4E7DFC0CF9D}"/>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8" name="Footer Placeholder 7">
            <a:extLst>
              <a:ext uri="{FF2B5EF4-FFF2-40B4-BE49-F238E27FC236}">
                <a16:creationId xmlns:a16="http://schemas.microsoft.com/office/drawing/2014/main" id="{953597FC-CFCC-BECA-3576-B086D552FBA9}"/>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A5E2FF0B-B8A6-1B34-675E-488D553E0A71}"/>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3412330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26F-E6D8-3E8C-7A0B-4A77B0F34A23}"/>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4662C4CF-8747-092A-E5FB-65FCAA1F2A34}"/>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4" name="Footer Placeholder 3">
            <a:extLst>
              <a:ext uri="{FF2B5EF4-FFF2-40B4-BE49-F238E27FC236}">
                <a16:creationId xmlns:a16="http://schemas.microsoft.com/office/drawing/2014/main" id="{CABFD63A-A119-1FAD-7037-9876660037C0}"/>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8E663330-52F0-3DF6-70F2-1D2FB89719B4}"/>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4007238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EF0748-834A-6342-C1DF-0F7AE7E1EDC4}"/>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3" name="Footer Placeholder 2">
            <a:extLst>
              <a:ext uri="{FF2B5EF4-FFF2-40B4-BE49-F238E27FC236}">
                <a16:creationId xmlns:a16="http://schemas.microsoft.com/office/drawing/2014/main" id="{462ED4F2-5307-FC81-ACEE-F0ACC034C11D}"/>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92986740-DE9C-7CC2-6D7C-47B9F014B801}"/>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2344019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D881-EB8A-894B-2125-B7BD2C3210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3ED11EA3-0F50-8B06-1898-799AC47D94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67FC1554-CBFE-8171-D24A-84AAD380D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7047F-9C39-3DFF-9802-37FBED7196AD}"/>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6" name="Footer Placeholder 5">
            <a:extLst>
              <a:ext uri="{FF2B5EF4-FFF2-40B4-BE49-F238E27FC236}">
                <a16:creationId xmlns:a16="http://schemas.microsoft.com/office/drawing/2014/main" id="{25DACE17-5668-E719-B4EF-61C83688E73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B5A1FA51-F068-0784-C10F-EE1BDCCD1E77}"/>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1580214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DE86F-6647-839A-60DD-93F0A6D7D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6880DDD6-995E-A451-D591-B3EDBEEF83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A1A8EEED-6042-79CF-98DD-BF1BB29E87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13403-808C-12C4-8375-607A1C54EB1F}"/>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6" name="Footer Placeholder 5">
            <a:extLst>
              <a:ext uri="{FF2B5EF4-FFF2-40B4-BE49-F238E27FC236}">
                <a16:creationId xmlns:a16="http://schemas.microsoft.com/office/drawing/2014/main" id="{864556FB-D618-FDC2-EB47-C21AEB034EED}"/>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01B0CC7E-BBD4-53CF-03D8-0B741E45B78F}"/>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1880775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5375-72DC-0E88-1B82-B8B0035A50B2}"/>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926A6959-A5ED-08DF-AE07-602AB9B46D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DEBAE179-EAC8-C9F0-EA05-CEBFB4EF7591}"/>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5" name="Footer Placeholder 4">
            <a:extLst>
              <a:ext uri="{FF2B5EF4-FFF2-40B4-BE49-F238E27FC236}">
                <a16:creationId xmlns:a16="http://schemas.microsoft.com/office/drawing/2014/main" id="{0117C127-1570-12DF-42FD-8CF53E35C0D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69EBF6E-47A0-68E7-9826-57656D1D5168}"/>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565592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D90163-36C3-BCE3-E5BD-7CFBCC6285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E0AC97D0-C875-FC81-5EAD-7EA751AB93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5729F1F-302A-F623-AE12-FA87F415F087}"/>
              </a:ext>
            </a:extLst>
          </p:cNvPr>
          <p:cNvSpPr>
            <a:spLocks noGrp="1"/>
          </p:cNvSpPr>
          <p:nvPr>
            <p:ph type="dt" sz="half" idx="10"/>
          </p:nvPr>
        </p:nvSpPr>
        <p:spPr/>
        <p:txBody>
          <a:bodyPr/>
          <a:lstStyle/>
          <a:p>
            <a:fld id="{CCB95D21-A6B2-4C25-AFCE-DF3B6B15B8AF}" type="datetimeFigureOut">
              <a:rPr lang="en-ID" smtClean="0"/>
              <a:t>16/09/2025</a:t>
            </a:fld>
            <a:endParaRPr lang="en-ID"/>
          </a:p>
        </p:txBody>
      </p:sp>
      <p:sp>
        <p:nvSpPr>
          <p:cNvPr id="5" name="Footer Placeholder 4">
            <a:extLst>
              <a:ext uri="{FF2B5EF4-FFF2-40B4-BE49-F238E27FC236}">
                <a16:creationId xmlns:a16="http://schemas.microsoft.com/office/drawing/2014/main" id="{A5EA1381-E86D-8B1D-03A5-C664585BCFC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B4F1D78-ED57-62A3-52FA-B97A5833D2E5}"/>
              </a:ext>
            </a:extLst>
          </p:cNvPr>
          <p:cNvSpPr>
            <a:spLocks noGrp="1"/>
          </p:cNvSpPr>
          <p:nvPr>
            <p:ph type="sldNum" sz="quarter" idx="12"/>
          </p:nvPr>
        </p:nvSpPr>
        <p:spPr/>
        <p:txBody>
          <a:bodyPr/>
          <a:lstStyle/>
          <a:p>
            <a:fld id="{BE139052-B046-4631-9B98-DD175F4B3613}" type="slidenum">
              <a:rPr lang="en-ID" smtClean="0"/>
              <a:t>‹#›</a:t>
            </a:fld>
            <a:endParaRPr lang="en-ID"/>
          </a:p>
        </p:txBody>
      </p:sp>
    </p:spTree>
    <p:extLst>
      <p:ext uri="{BB962C8B-B14F-4D97-AF65-F5344CB8AC3E}">
        <p14:creationId xmlns:p14="http://schemas.microsoft.com/office/powerpoint/2010/main" val="101177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DA77AE-274E-81C0-0A44-1C109CFB39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B417BBDC-E4AF-9756-3970-F9FC5D5514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8C947CE-0EB1-AE33-2E57-9F5B28C5E3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B95D21-A6B2-4C25-AFCE-DF3B6B15B8AF}" type="datetimeFigureOut">
              <a:rPr lang="en-ID" smtClean="0"/>
              <a:t>16/09/2025</a:t>
            </a:fld>
            <a:endParaRPr lang="en-ID"/>
          </a:p>
        </p:txBody>
      </p:sp>
      <p:sp>
        <p:nvSpPr>
          <p:cNvPr id="5" name="Footer Placeholder 4">
            <a:extLst>
              <a:ext uri="{FF2B5EF4-FFF2-40B4-BE49-F238E27FC236}">
                <a16:creationId xmlns:a16="http://schemas.microsoft.com/office/drawing/2014/main" id="{7FAC9A49-E887-009A-DC1A-27D0D4782D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28DAF6E3-133F-9100-5CC0-AB06FB2FA4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139052-B046-4631-9B98-DD175F4B3613}" type="slidenum">
              <a:rPr lang="en-ID" smtClean="0"/>
              <a:t>‹#›</a:t>
            </a:fld>
            <a:endParaRPr lang="en-ID"/>
          </a:p>
        </p:txBody>
      </p:sp>
    </p:spTree>
    <p:extLst>
      <p:ext uri="{BB962C8B-B14F-4D97-AF65-F5344CB8AC3E}">
        <p14:creationId xmlns:p14="http://schemas.microsoft.com/office/powerpoint/2010/main" val="4035489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1966-D61D-B171-467B-15793C3F588C}"/>
              </a:ext>
            </a:extLst>
          </p:cNvPr>
          <p:cNvSpPr>
            <a:spLocks noGrp="1"/>
          </p:cNvSpPr>
          <p:nvPr>
            <p:ph type="ctrTitle"/>
          </p:nvPr>
        </p:nvSpPr>
        <p:spPr>
          <a:xfrm>
            <a:off x="278917" y="205021"/>
            <a:ext cx="9744649" cy="1655762"/>
          </a:xfrm>
        </p:spPr>
        <p:txBody>
          <a:bodyPr>
            <a:normAutofit fontScale="90000"/>
          </a:bodyPr>
          <a:lstStyle/>
          <a:p>
            <a:pPr algn="l"/>
            <a:r>
              <a:rPr lang="en-US" b="1">
                <a:solidFill>
                  <a:srgbClr val="BFA045"/>
                </a:solidFill>
                <a:latin typeface="Quicksand"/>
              </a:rPr>
              <a:t>TT25-21001 </a:t>
            </a:r>
            <a:br>
              <a:rPr lang="en-US" b="1">
                <a:solidFill>
                  <a:srgbClr val="BFA045"/>
                </a:solidFill>
                <a:latin typeface="Quicksand"/>
              </a:rPr>
            </a:br>
            <a:r>
              <a:rPr lang="en-US" sz="5300" b="1">
                <a:solidFill>
                  <a:srgbClr val="BFA045"/>
                </a:solidFill>
                <a:latin typeface="Quicksand"/>
              </a:rPr>
              <a:t>ALGORITMA DAN PEMROGRAMAN</a:t>
            </a:r>
            <a:endParaRPr lang="en-ID" b="1">
              <a:solidFill>
                <a:srgbClr val="BFA045"/>
              </a:solidFill>
              <a:latin typeface="Quicksand"/>
            </a:endParaRPr>
          </a:p>
        </p:txBody>
      </p:sp>
      <p:sp>
        <p:nvSpPr>
          <p:cNvPr id="3" name="Subtitle 2">
            <a:extLst>
              <a:ext uri="{FF2B5EF4-FFF2-40B4-BE49-F238E27FC236}">
                <a16:creationId xmlns:a16="http://schemas.microsoft.com/office/drawing/2014/main" id="{3D32C4DE-D9C1-538A-E8A0-E2BC814F936A}"/>
              </a:ext>
            </a:extLst>
          </p:cNvPr>
          <p:cNvSpPr>
            <a:spLocks noGrp="1"/>
          </p:cNvSpPr>
          <p:nvPr>
            <p:ph type="subTitle" idx="1"/>
          </p:nvPr>
        </p:nvSpPr>
        <p:spPr>
          <a:xfrm>
            <a:off x="2501661" y="4512843"/>
            <a:ext cx="9246990" cy="1920284"/>
          </a:xfrm>
          <a:solidFill>
            <a:srgbClr val="BFA045"/>
          </a:solidFill>
          <a:ln w="152400">
            <a:solidFill>
              <a:srgbClr val="BFA045"/>
            </a:solidFill>
          </a:ln>
        </p:spPr>
        <p:txBody>
          <a:bodyPr anchor="ctr">
            <a:normAutofit/>
          </a:bodyPr>
          <a:lstStyle/>
          <a:p>
            <a:pPr algn="l"/>
            <a:r>
              <a:rPr lang="en-US" b="1">
                <a:latin typeface="Quicksand"/>
              </a:rPr>
              <a:t>Pertemuan 4 – </a:t>
            </a:r>
            <a:r>
              <a:rPr lang="en-US"/>
              <a:t>Perulangan For dan While</a:t>
            </a:r>
          </a:p>
          <a:p>
            <a:pPr algn="l"/>
            <a:r>
              <a:rPr lang="en-US">
                <a:latin typeface="Quicksand"/>
              </a:rPr>
              <a:t>2 SKS</a:t>
            </a:r>
          </a:p>
          <a:p>
            <a:pPr algn="l"/>
            <a:endParaRPr lang="en-US">
              <a:latin typeface="Quicksand"/>
            </a:endParaRPr>
          </a:p>
          <a:p>
            <a:pPr algn="l"/>
            <a:r>
              <a:rPr lang="en-US">
                <a:latin typeface="Quicksand"/>
              </a:rPr>
              <a:t>Soraida Sabella, S.T., M.T</a:t>
            </a:r>
          </a:p>
        </p:txBody>
      </p:sp>
      <p:sp>
        <p:nvSpPr>
          <p:cNvPr id="6" name="TextBox 5">
            <a:extLst>
              <a:ext uri="{FF2B5EF4-FFF2-40B4-BE49-F238E27FC236}">
                <a16:creationId xmlns:a16="http://schemas.microsoft.com/office/drawing/2014/main" id="{1EE5BFAA-B93C-B4ED-F1A8-BDE539AB3D2E}"/>
              </a:ext>
            </a:extLst>
          </p:cNvPr>
          <p:cNvSpPr txBox="1"/>
          <p:nvPr/>
        </p:nvSpPr>
        <p:spPr>
          <a:xfrm>
            <a:off x="322462" y="1761742"/>
            <a:ext cx="60105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BFA045"/>
                </a:solidFill>
                <a:effectLst/>
                <a:uLnTx/>
                <a:uFillTx/>
                <a:latin typeface="Quicksand"/>
                <a:ea typeface="+mn-ea"/>
                <a:cs typeface="+mn-cs"/>
              </a:rPr>
              <a:t>FTI - Teknik Telekomunikasi</a:t>
            </a:r>
          </a:p>
        </p:txBody>
      </p:sp>
      <p:pic>
        <p:nvPicPr>
          <p:cNvPr id="5" name="Picture 4" descr="A yellow hexagon with a radio tower and pulse line&#10;&#10;AI-generated content may be incorrect.">
            <a:extLst>
              <a:ext uri="{FF2B5EF4-FFF2-40B4-BE49-F238E27FC236}">
                <a16:creationId xmlns:a16="http://schemas.microsoft.com/office/drawing/2014/main" id="{37AF5342-8405-E30C-7439-998765AFD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326" y="4465756"/>
            <a:ext cx="2053542" cy="2050496"/>
          </a:xfrm>
          <a:prstGeom prst="rect">
            <a:avLst/>
          </a:prstGeom>
        </p:spPr>
      </p:pic>
      <p:grpSp>
        <p:nvGrpSpPr>
          <p:cNvPr id="10" name="Group 9">
            <a:extLst>
              <a:ext uri="{FF2B5EF4-FFF2-40B4-BE49-F238E27FC236}">
                <a16:creationId xmlns:a16="http://schemas.microsoft.com/office/drawing/2014/main" id="{08A8708C-2F6F-FE43-C214-679FB6E68E48}"/>
              </a:ext>
            </a:extLst>
          </p:cNvPr>
          <p:cNvGrpSpPr/>
          <p:nvPr/>
        </p:nvGrpSpPr>
        <p:grpSpPr>
          <a:xfrm>
            <a:off x="10284018" y="269505"/>
            <a:ext cx="1584817" cy="1526794"/>
            <a:chOff x="10241535" y="272210"/>
            <a:chExt cx="1584817" cy="1526794"/>
          </a:xfrm>
        </p:grpSpPr>
        <p:sp>
          <p:nvSpPr>
            <p:cNvPr id="7" name="Rectangle: Rounded Corners 6">
              <a:extLst>
                <a:ext uri="{FF2B5EF4-FFF2-40B4-BE49-F238E27FC236}">
                  <a16:creationId xmlns:a16="http://schemas.microsoft.com/office/drawing/2014/main" id="{98FCECA9-F4F3-88E5-D179-CFB19BED032A}"/>
                </a:ext>
              </a:extLst>
            </p:cNvPr>
            <p:cNvSpPr/>
            <p:nvPr/>
          </p:nvSpPr>
          <p:spPr>
            <a:xfrm>
              <a:off x="10241535" y="272210"/>
              <a:ext cx="1584817" cy="152679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2">
              <a:extLst>
                <a:ext uri="{FF2B5EF4-FFF2-40B4-BE49-F238E27FC236}">
                  <a16:creationId xmlns:a16="http://schemas.microsoft.com/office/drawing/2014/main" id="{9D5F9075-CEEF-47E7-3F7C-C8266B62B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1437" y="315375"/>
              <a:ext cx="1417214" cy="14172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12511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C0D860-9C8D-6B6C-F756-EDCA886B445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A63B82-D599-D0D5-45EF-BFC5770ECF91}"/>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19DCA5FF-FC3A-E115-866C-223AE87B0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264EE6C-4F0B-11EB-135D-B5756B3EC5DB}"/>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7D524C5C-13B6-9170-485B-F4C8CCAE2D05}"/>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5C82DAB6-FD76-28FD-4F89-A091F0F2E4A8}"/>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defTabSz="914400" rtl="0" eaLnBrk="1" fontAlgn="auto" latinLnBrk="0" hangingPunct="1">
              <a:lnSpc>
                <a:spcPct val="100000"/>
              </a:lnSpc>
              <a:spcBef>
                <a:spcPts val="0"/>
              </a:spcBef>
              <a:spcAft>
                <a:spcPts val="0"/>
              </a:spcAft>
              <a:buClr>
                <a:srgbClr val="13234B"/>
              </a:buClr>
              <a:buSzPts val="1400"/>
              <a:buFont typeface="Quicksand"/>
              <a:buNone/>
              <a:tabLst/>
              <a:defRPr/>
            </a:pPr>
            <a:r>
              <a:rPr lang="en-US" sz="3200" b="1" kern="0">
                <a:solidFill>
                  <a:schemeClr val="tx1"/>
                </a:solidFill>
              </a:rPr>
              <a:t>LOOPING STATEMENT</a:t>
            </a:r>
            <a:endParaRPr kumimoji="0" lang="en-US" sz="3200" b="1" i="0" u="none" strike="noStrike" kern="0" cap="none" spc="0" normalizeH="0" baseline="0" noProof="0">
              <a:ln>
                <a:noFill/>
              </a:ln>
              <a:solidFill>
                <a:schemeClr val="tx1"/>
              </a:solidFill>
              <a:effectLst/>
              <a:uLnTx/>
              <a:uFillTx/>
              <a:sym typeface="Quicksand"/>
            </a:endParaRPr>
          </a:p>
        </p:txBody>
      </p:sp>
      <p:sp>
        <p:nvSpPr>
          <p:cNvPr id="2" name="Google Shape;405;p39">
            <a:extLst>
              <a:ext uri="{FF2B5EF4-FFF2-40B4-BE49-F238E27FC236}">
                <a16:creationId xmlns:a16="http://schemas.microsoft.com/office/drawing/2014/main" id="{CFB96AEE-2735-2353-2E35-CF295A119E72}"/>
              </a:ext>
            </a:extLst>
          </p:cNvPr>
          <p:cNvSpPr txBox="1">
            <a:spLocks/>
          </p:cNvSpPr>
          <p:nvPr/>
        </p:nvSpPr>
        <p:spPr>
          <a:xfrm>
            <a:off x="360217" y="1035516"/>
            <a:ext cx="6362873" cy="12003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50000"/>
              </a:lnSpc>
              <a:spcBef>
                <a:spcPts val="0"/>
              </a:spcBef>
              <a:spcAft>
                <a:spcPts val="0"/>
              </a:spcAft>
              <a:buClr>
                <a:srgbClr val="13234B"/>
              </a:buClr>
              <a:buSzPts val="1400"/>
              <a:buFont typeface="Quicksand"/>
              <a:buNone/>
              <a:tabLst/>
              <a:defRPr/>
            </a:pPr>
            <a:r>
              <a:rPr kumimoji="0" lang="en-US" sz="1800" b="1" i="0" u="none" strike="noStrike" kern="0" cap="none" spc="0" normalizeH="0" baseline="0" noProof="0">
                <a:ln>
                  <a:noFill/>
                </a:ln>
                <a:solidFill>
                  <a:schemeClr val="tx1"/>
                </a:solidFill>
                <a:effectLst/>
                <a:uLnTx/>
                <a:uFillTx/>
                <a:latin typeface="Quicksand"/>
                <a:sym typeface="Quicksand"/>
              </a:rPr>
              <a:t>Dalam menyusun suatu algoritma, kita dihadapkan pada situasi dimana sekumpulan instruksi harus diulang beberapa kali. </a:t>
            </a:r>
          </a:p>
        </p:txBody>
      </p:sp>
      <p:sp>
        <p:nvSpPr>
          <p:cNvPr id="7" name="Oval 6">
            <a:extLst>
              <a:ext uri="{FF2B5EF4-FFF2-40B4-BE49-F238E27FC236}">
                <a16:creationId xmlns:a16="http://schemas.microsoft.com/office/drawing/2014/main" id="{DEAA22A0-9B0D-712B-7C47-84599564AA55}"/>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2</a:t>
            </a:fld>
            <a:endParaRPr lang="en-ID" sz="1200" b="1">
              <a:solidFill>
                <a:schemeClr val="tx1"/>
              </a:solidFill>
            </a:endParaRPr>
          </a:p>
        </p:txBody>
      </p:sp>
      <p:sp>
        <p:nvSpPr>
          <p:cNvPr id="3" name="Google Shape;405;p39">
            <a:extLst>
              <a:ext uri="{FF2B5EF4-FFF2-40B4-BE49-F238E27FC236}">
                <a16:creationId xmlns:a16="http://schemas.microsoft.com/office/drawing/2014/main" id="{DC87369F-BE01-0930-AF4F-E382F4A84ABB}"/>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a:t>
            </a:r>
            <a:r>
              <a:rPr lang="en-US" b="1" kern="0">
                <a:solidFill>
                  <a:srgbClr val="13234B"/>
                </a:solidFill>
              </a:rPr>
              <a:t>4</a:t>
            </a:r>
            <a:r>
              <a:rPr kumimoji="0" lang="en-US" b="1" i="0" u="none" strike="noStrike" kern="0" cap="none" spc="0" normalizeH="0" baseline="0" noProof="0">
                <a:ln>
                  <a:noFill/>
                </a:ln>
                <a:solidFill>
                  <a:srgbClr val="13234B"/>
                </a:solidFill>
                <a:effectLst/>
                <a:uLnTx/>
                <a:uFillTx/>
                <a:latin typeface="Quicksand"/>
                <a:sym typeface="Quicksand"/>
              </a:rPr>
              <a:t> – </a:t>
            </a:r>
            <a:r>
              <a:rPr lang="id-ID"/>
              <a:t>Perulangan For dan While</a:t>
            </a:r>
          </a:p>
        </p:txBody>
      </p:sp>
      <p:sp>
        <p:nvSpPr>
          <p:cNvPr id="10" name="Google Shape;405;p39">
            <a:extLst>
              <a:ext uri="{FF2B5EF4-FFF2-40B4-BE49-F238E27FC236}">
                <a16:creationId xmlns:a16="http://schemas.microsoft.com/office/drawing/2014/main" id="{B23C0B32-33C4-DF2F-1998-1865D1700691}"/>
              </a:ext>
            </a:extLst>
          </p:cNvPr>
          <p:cNvSpPr txBox="1">
            <a:spLocks/>
          </p:cNvSpPr>
          <p:nvPr/>
        </p:nvSpPr>
        <p:spPr>
          <a:xfrm>
            <a:off x="360218" y="2628903"/>
            <a:ext cx="6468428" cy="329441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50000"/>
              </a:lnSpc>
              <a:spcBef>
                <a:spcPts val="0"/>
              </a:spcBef>
              <a:spcAft>
                <a:spcPts val="0"/>
              </a:spcAft>
              <a:buClr>
                <a:srgbClr val="13234B"/>
              </a:buClr>
              <a:buSzPts val="1400"/>
              <a:buFont typeface="Quicksand"/>
              <a:buNone/>
              <a:tabLst/>
              <a:defRPr/>
            </a:pPr>
            <a:r>
              <a:rPr kumimoji="0" lang="en-US" sz="1800" b="1" i="0" u="none" strike="noStrike" kern="0" cap="none" spc="0" normalizeH="0" baseline="0" noProof="0">
                <a:ln>
                  <a:noFill/>
                </a:ln>
                <a:solidFill>
                  <a:schemeClr val="tx1"/>
                </a:solidFill>
                <a:effectLst/>
                <a:uLnTx/>
                <a:uFillTx/>
                <a:latin typeface="Quicksand"/>
                <a:sym typeface="Quicksand"/>
              </a:rPr>
              <a:t>Matlab menyediakan berbagai jenis loop untuk menangani kebutuhan looping antara lain:</a:t>
            </a:r>
          </a:p>
          <a:p>
            <a:pPr marL="742950" lvl="1" indent="-285750">
              <a:lnSpc>
                <a:spcPct val="150000"/>
              </a:lnSpc>
              <a:buClr>
                <a:srgbClr val="13234B"/>
              </a:buClr>
              <a:buFont typeface="Arial" panose="020B0604020202020204" pitchFamily="34" charset="0"/>
              <a:buChar char="•"/>
              <a:defRPr/>
            </a:pPr>
            <a:r>
              <a:rPr kumimoji="0" lang="en-US" sz="1800" b="1" i="0" u="none" strike="noStrike" kern="0" cap="none" spc="0" normalizeH="0" baseline="0" noProof="0">
                <a:ln>
                  <a:noFill/>
                </a:ln>
                <a:solidFill>
                  <a:schemeClr val="tx1"/>
                </a:solidFill>
                <a:effectLst/>
                <a:uLnTx/>
                <a:uFillTx/>
                <a:latin typeface="Quicksand"/>
                <a:sym typeface="Quicksand"/>
              </a:rPr>
              <a:t>For Looping</a:t>
            </a:r>
          </a:p>
          <a:p>
            <a:pPr marL="742950" lvl="1" indent="-285750">
              <a:lnSpc>
                <a:spcPct val="150000"/>
              </a:lnSpc>
              <a:buClr>
                <a:srgbClr val="13234B"/>
              </a:buClr>
              <a:buFont typeface="Arial" panose="020B0604020202020204" pitchFamily="34" charset="0"/>
              <a:buChar char="•"/>
              <a:defRPr/>
            </a:pPr>
            <a:r>
              <a:rPr lang="en-US" sz="1800" b="1" kern="0">
                <a:solidFill>
                  <a:schemeClr val="tx1"/>
                </a:solidFill>
              </a:rPr>
              <a:t>While Looping</a:t>
            </a:r>
          </a:p>
          <a:p>
            <a:pPr marL="742950" lvl="1" indent="-285750">
              <a:lnSpc>
                <a:spcPct val="150000"/>
              </a:lnSpc>
              <a:buClr>
                <a:srgbClr val="13234B"/>
              </a:buClr>
              <a:buFont typeface="Arial" panose="020B0604020202020204" pitchFamily="34" charset="0"/>
              <a:buChar char="•"/>
              <a:defRPr/>
            </a:pPr>
            <a:r>
              <a:rPr lang="en-US" sz="1800" b="1" kern="0">
                <a:solidFill>
                  <a:schemeClr val="tx1"/>
                </a:solidFill>
              </a:rPr>
              <a:t>Nested Looping</a:t>
            </a:r>
          </a:p>
          <a:p>
            <a:pPr marL="457200" lvl="1" indent="0">
              <a:lnSpc>
                <a:spcPct val="150000"/>
              </a:lnSpc>
              <a:buClr>
                <a:srgbClr val="13234B"/>
              </a:buClr>
              <a:defRPr/>
            </a:pPr>
            <a:endParaRPr kumimoji="0" lang="en-US" sz="1800" b="1" i="0" u="none" strike="noStrike" kern="0" cap="none" spc="0" normalizeH="0" baseline="0" noProof="0">
              <a:ln>
                <a:noFill/>
              </a:ln>
              <a:solidFill>
                <a:schemeClr val="tx1"/>
              </a:solidFill>
              <a:effectLst/>
              <a:uLnTx/>
              <a:uFillTx/>
              <a:latin typeface="Quicksand"/>
              <a:sym typeface="Quicksand"/>
            </a:endParaRPr>
          </a:p>
          <a:p>
            <a:pPr marL="0" marR="0" lvl="0" indent="0" algn="l" defTabSz="914400" rtl="0" eaLnBrk="1" fontAlgn="auto" latinLnBrk="0" hangingPunct="1">
              <a:lnSpc>
                <a:spcPct val="150000"/>
              </a:lnSpc>
              <a:spcBef>
                <a:spcPts val="0"/>
              </a:spcBef>
              <a:spcAft>
                <a:spcPts val="0"/>
              </a:spcAft>
              <a:buClr>
                <a:srgbClr val="13234B"/>
              </a:buClr>
              <a:buSzPts val="1400"/>
              <a:buFont typeface="Quicksand"/>
              <a:buNone/>
              <a:tabLst/>
              <a:defRPr/>
            </a:pPr>
            <a:r>
              <a:rPr kumimoji="0" lang="en-US" sz="1800" b="1" i="0" u="none" strike="noStrike" kern="0" cap="none" spc="0" normalizeH="0" baseline="0" noProof="0">
                <a:ln>
                  <a:noFill/>
                </a:ln>
                <a:solidFill>
                  <a:schemeClr val="tx1"/>
                </a:solidFill>
                <a:effectLst/>
                <a:uLnTx/>
                <a:uFillTx/>
                <a:latin typeface="Quicksand"/>
                <a:sym typeface="Quicksand"/>
              </a:rPr>
              <a:t>Looping statement ditulis sebagai SCRIPT dan tidak langsung di Command Window.</a:t>
            </a:r>
          </a:p>
        </p:txBody>
      </p:sp>
      <p:pic>
        <p:nvPicPr>
          <p:cNvPr id="11" name="Picture 10">
            <a:extLst>
              <a:ext uri="{FF2B5EF4-FFF2-40B4-BE49-F238E27FC236}">
                <a16:creationId xmlns:a16="http://schemas.microsoft.com/office/drawing/2014/main" id="{49424002-AF55-54DE-7020-CF6B0843E6F4}"/>
              </a:ext>
            </a:extLst>
          </p:cNvPr>
          <p:cNvPicPr>
            <a:picLocks noChangeAspect="1"/>
          </p:cNvPicPr>
          <p:nvPr/>
        </p:nvPicPr>
        <p:blipFill>
          <a:blip r:embed="rId4"/>
          <a:stretch>
            <a:fillRect/>
          </a:stretch>
        </p:blipFill>
        <p:spPr>
          <a:xfrm>
            <a:off x="7653626" y="1205836"/>
            <a:ext cx="4178155" cy="4641638"/>
          </a:xfrm>
          <a:prstGeom prst="rect">
            <a:avLst/>
          </a:prstGeom>
        </p:spPr>
      </p:pic>
    </p:spTree>
    <p:extLst>
      <p:ext uri="{BB962C8B-B14F-4D97-AF65-F5344CB8AC3E}">
        <p14:creationId xmlns:p14="http://schemas.microsoft.com/office/powerpoint/2010/main" val="665720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22A9463-15C8-8884-A962-FE46CCB14B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BEC5D7-6F49-CE4B-A9C9-8766002E3B1A}"/>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pic>
        <p:nvPicPr>
          <p:cNvPr id="5" name="Picture 2">
            <a:extLst>
              <a:ext uri="{FF2B5EF4-FFF2-40B4-BE49-F238E27FC236}">
                <a16:creationId xmlns:a16="http://schemas.microsoft.com/office/drawing/2014/main" id="{AF6210EF-A318-3C90-222B-9C43DD3A8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E170A765-977A-63FC-E7FE-C80448E1FAFD}"/>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52D6A6FE-45DB-05AA-4FD8-F4D2DA454372}"/>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bg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2BFD302F-AB94-68C9-8D2E-9DDBA7A98236}"/>
              </a:ext>
            </a:extLst>
          </p:cNvPr>
          <p:cNvSpPr txBox="1">
            <a:spLocks/>
          </p:cNvSpPr>
          <p:nvPr/>
        </p:nvSpPr>
        <p:spPr>
          <a:xfrm>
            <a:off x="928688" y="3186600"/>
            <a:ext cx="1090309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4800" b="1" kern="0">
                <a:solidFill>
                  <a:schemeClr val="bg1"/>
                </a:solidFill>
              </a:rPr>
              <a:t>FOR LOOPING STATEMENT</a:t>
            </a:r>
          </a:p>
        </p:txBody>
      </p:sp>
      <p:sp>
        <p:nvSpPr>
          <p:cNvPr id="7" name="Oval 6">
            <a:extLst>
              <a:ext uri="{FF2B5EF4-FFF2-40B4-BE49-F238E27FC236}">
                <a16:creationId xmlns:a16="http://schemas.microsoft.com/office/drawing/2014/main" id="{9C1C338F-A930-BBF8-B8A3-B84DD5AC4F8F}"/>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bg1"/>
                </a:solidFill>
              </a:rPr>
              <a:t>3</a:t>
            </a:fld>
            <a:endParaRPr lang="en-ID" sz="1200" b="1">
              <a:solidFill>
                <a:schemeClr val="bg1"/>
              </a:solidFill>
            </a:endParaRPr>
          </a:p>
        </p:txBody>
      </p:sp>
      <p:sp>
        <p:nvSpPr>
          <p:cNvPr id="3" name="Google Shape;405;p39">
            <a:extLst>
              <a:ext uri="{FF2B5EF4-FFF2-40B4-BE49-F238E27FC236}">
                <a16:creationId xmlns:a16="http://schemas.microsoft.com/office/drawing/2014/main" id="{D4400C11-8892-3070-C31D-27D7E4F3681C}"/>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chemeClr val="bg1"/>
                </a:solidFill>
                <a:effectLst/>
                <a:uLnTx/>
                <a:uFillTx/>
                <a:latin typeface="Quicksand"/>
                <a:sym typeface="Quicksand"/>
              </a:rPr>
              <a:t>Pert. 4 – Perulangan For dan While</a:t>
            </a:r>
          </a:p>
        </p:txBody>
      </p:sp>
    </p:spTree>
    <p:extLst>
      <p:ext uri="{BB962C8B-B14F-4D97-AF65-F5344CB8AC3E}">
        <p14:creationId xmlns:p14="http://schemas.microsoft.com/office/powerpoint/2010/main" val="3632966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45AFF7-1CFA-8BA8-0BBA-37B65E1F84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B50CDB-36F0-1A8A-C2BB-0592DEA1E0AF}"/>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328C35D4-40F6-290F-70C4-4E1C9781F4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05EF0B49-2660-E365-E640-3824BE74F67B}"/>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AAE7519C-8F0C-9C6C-5972-A8209691769B}"/>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3C280B62-B567-EF8B-D4D7-D8D708847E43}"/>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Tipe Looping (For Loop)</a:t>
            </a:r>
          </a:p>
        </p:txBody>
      </p:sp>
      <p:sp>
        <p:nvSpPr>
          <p:cNvPr id="7" name="Oval 6">
            <a:extLst>
              <a:ext uri="{FF2B5EF4-FFF2-40B4-BE49-F238E27FC236}">
                <a16:creationId xmlns:a16="http://schemas.microsoft.com/office/drawing/2014/main" id="{D8E25E83-FECE-3E18-7225-2E857EB86660}"/>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4</a:t>
            </a:fld>
            <a:endParaRPr lang="en-ID" sz="1200" b="1">
              <a:solidFill>
                <a:schemeClr val="tx1"/>
              </a:solidFill>
            </a:endParaRPr>
          </a:p>
        </p:txBody>
      </p:sp>
      <p:sp>
        <p:nvSpPr>
          <p:cNvPr id="3" name="Google Shape;405;p39">
            <a:extLst>
              <a:ext uri="{FF2B5EF4-FFF2-40B4-BE49-F238E27FC236}">
                <a16:creationId xmlns:a16="http://schemas.microsoft.com/office/drawing/2014/main" id="{8C302A6A-6120-B9A6-D163-FCFE2AE05F19}"/>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756A1452-CFE4-B144-A14D-9C10602CDCC6}"/>
              </a:ext>
            </a:extLst>
          </p:cNvPr>
          <p:cNvSpPr txBox="1">
            <a:spLocks/>
          </p:cNvSpPr>
          <p:nvPr/>
        </p:nvSpPr>
        <p:spPr>
          <a:xfrm>
            <a:off x="294409" y="863597"/>
            <a:ext cx="11379432" cy="1671786"/>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solidFill>
                  <a:schemeClr val="tx1"/>
                </a:solidFill>
                <a:latin typeface="Quicksand"/>
              </a:rPr>
              <a:t>A for loop adalah struktur kontrol pengulangan yang memungkinkan Anda menulis loop secara efisien yang perlu dieksekusi beberapa kali. Sintaksnya:</a:t>
            </a:r>
          </a:p>
        </p:txBody>
      </p:sp>
      <p:sp>
        <p:nvSpPr>
          <p:cNvPr id="16" name="Google Shape;6457;p40">
            <a:extLst>
              <a:ext uri="{FF2B5EF4-FFF2-40B4-BE49-F238E27FC236}">
                <a16:creationId xmlns:a16="http://schemas.microsoft.com/office/drawing/2014/main" id="{E6AC21F3-126E-AA13-4100-1A029354547D}"/>
              </a:ext>
            </a:extLst>
          </p:cNvPr>
          <p:cNvSpPr txBox="1">
            <a:spLocks/>
          </p:cNvSpPr>
          <p:nvPr/>
        </p:nvSpPr>
        <p:spPr>
          <a:xfrm>
            <a:off x="360219" y="4099846"/>
            <a:ext cx="11313622" cy="198022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spcAft>
                <a:spcPts val="600"/>
              </a:spcAft>
              <a:buFont typeface="Arial" panose="020B0604020202020204" pitchFamily="34" charset="0"/>
              <a:buChar char="•"/>
            </a:pPr>
            <a:r>
              <a:rPr lang="en-US" sz="2133">
                <a:latin typeface="Quicksand"/>
              </a:rPr>
              <a:t>Indeks	: Variabel pencacah yang nilainya berubah pada setiap iterasi -&gt; (i atau j)</a:t>
            </a:r>
          </a:p>
          <a:p>
            <a:pPr algn="just">
              <a:spcAft>
                <a:spcPts val="600"/>
              </a:spcAft>
              <a:buFont typeface="Arial" panose="020B0604020202020204" pitchFamily="34" charset="0"/>
              <a:buChar char="•"/>
            </a:pPr>
            <a:r>
              <a:rPr lang="en-US" sz="2133">
                <a:latin typeface="Quicksand"/>
              </a:rPr>
              <a:t>nilai_awal	: Nilai awal untuk variabel indeks.</a:t>
            </a:r>
          </a:p>
          <a:p>
            <a:pPr algn="just">
              <a:spcAft>
                <a:spcPts val="600"/>
              </a:spcAft>
              <a:buFont typeface="Arial" panose="020B0604020202020204" pitchFamily="34" charset="0"/>
              <a:buChar char="•"/>
            </a:pPr>
            <a:r>
              <a:rPr lang="en-US" sz="2133">
                <a:latin typeface="Quicksand"/>
              </a:rPr>
              <a:t>nilai_akhir	: Nilai akhir yang menjadi batas untuk variabel indeks.</a:t>
            </a:r>
          </a:p>
          <a:p>
            <a:pPr algn="just">
              <a:spcAft>
                <a:spcPts val="600"/>
              </a:spcAft>
              <a:buFont typeface="Arial" panose="020B0604020202020204" pitchFamily="34" charset="0"/>
              <a:buChar char="•"/>
            </a:pPr>
            <a:r>
              <a:rPr lang="en-US" sz="2133">
                <a:latin typeface="Quicksand"/>
              </a:rPr>
              <a:t>langkah	: Increment/decrement nilai indeks tiap iterasi (default = 1).</a:t>
            </a:r>
          </a:p>
        </p:txBody>
      </p:sp>
      <p:sp>
        <p:nvSpPr>
          <p:cNvPr id="8" name="TextBox 7">
            <a:extLst>
              <a:ext uri="{FF2B5EF4-FFF2-40B4-BE49-F238E27FC236}">
                <a16:creationId xmlns:a16="http://schemas.microsoft.com/office/drawing/2014/main" id="{B53D8E36-803F-AE5E-1CB0-910DD18B5089}"/>
              </a:ext>
            </a:extLst>
          </p:cNvPr>
          <p:cNvSpPr txBox="1"/>
          <p:nvPr/>
        </p:nvSpPr>
        <p:spPr>
          <a:xfrm>
            <a:off x="857081" y="2202294"/>
            <a:ext cx="6672432" cy="1631216"/>
          </a:xfrm>
          <a:prstGeom prst="rect">
            <a:avLst/>
          </a:prstGeom>
          <a:solidFill>
            <a:srgbClr val="002060"/>
          </a:solidFill>
        </p:spPr>
        <p:txBody>
          <a:bodyPr wrap="square">
            <a:spAutoFit/>
          </a:bodyPr>
          <a:lstStyle/>
          <a:p>
            <a:r>
              <a:rPr lang="en-ID" sz="2000" b="1">
                <a:solidFill>
                  <a:schemeClr val="bg1"/>
                </a:solidFill>
                <a:latin typeface="Quicksand"/>
              </a:rPr>
              <a:t>	</a:t>
            </a:r>
          </a:p>
          <a:p>
            <a:r>
              <a:rPr lang="en-ID" sz="2000" b="1">
                <a:solidFill>
                  <a:schemeClr val="bg1"/>
                </a:solidFill>
                <a:latin typeface="Quicksand"/>
              </a:rPr>
              <a:t>	for indeks = nilai_awal : langkah : nilai_akhir</a:t>
            </a:r>
          </a:p>
          <a:p>
            <a:r>
              <a:rPr lang="en-ID" sz="2000" b="1">
                <a:solidFill>
                  <a:schemeClr val="bg1"/>
                </a:solidFill>
                <a:latin typeface="Quicksand"/>
              </a:rPr>
              <a:t>    	 &lt;STATEMENT&gt;</a:t>
            </a:r>
          </a:p>
          <a:p>
            <a:r>
              <a:rPr lang="en-ID" sz="2000" b="1">
                <a:solidFill>
                  <a:schemeClr val="bg1"/>
                </a:solidFill>
                <a:latin typeface="Quicksand"/>
              </a:rPr>
              <a:t>	end</a:t>
            </a:r>
          </a:p>
          <a:p>
            <a:endParaRPr lang="en-ID" sz="2000" b="1">
              <a:solidFill>
                <a:schemeClr val="bg1"/>
              </a:solidFill>
              <a:latin typeface="Quicksand"/>
            </a:endParaRPr>
          </a:p>
        </p:txBody>
      </p:sp>
    </p:spTree>
    <p:extLst>
      <p:ext uri="{BB962C8B-B14F-4D97-AF65-F5344CB8AC3E}">
        <p14:creationId xmlns:p14="http://schemas.microsoft.com/office/powerpoint/2010/main" val="4252194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DCB4D3-9E17-FC15-D81A-FEE0534375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966ED2B-8099-7358-0735-047E43FA834D}"/>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75BDB931-7209-150F-2A78-9DBB0F411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1BF0B614-D71E-8985-F188-1A20619F0101}"/>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65A03836-4D9A-D2FD-3DE4-3912D09FBB7D}"/>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2D767E63-EBD7-ABD0-03DD-93D3B5C4CE43}"/>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For Loop Statement (Task 1)</a:t>
            </a:r>
          </a:p>
        </p:txBody>
      </p:sp>
      <p:sp>
        <p:nvSpPr>
          <p:cNvPr id="7" name="Oval 6">
            <a:extLst>
              <a:ext uri="{FF2B5EF4-FFF2-40B4-BE49-F238E27FC236}">
                <a16:creationId xmlns:a16="http://schemas.microsoft.com/office/drawing/2014/main" id="{9E0089C8-7B17-2878-12FC-420508949810}"/>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5</a:t>
            </a:fld>
            <a:endParaRPr lang="en-ID" sz="1200" b="1">
              <a:solidFill>
                <a:schemeClr val="tx1"/>
              </a:solidFill>
            </a:endParaRPr>
          </a:p>
        </p:txBody>
      </p:sp>
      <p:sp>
        <p:nvSpPr>
          <p:cNvPr id="3" name="Google Shape;405;p39">
            <a:extLst>
              <a:ext uri="{FF2B5EF4-FFF2-40B4-BE49-F238E27FC236}">
                <a16:creationId xmlns:a16="http://schemas.microsoft.com/office/drawing/2014/main" id="{8109C816-4D2A-E7EC-6818-B81A26C95AB7}"/>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65BBA1E6-2BA0-BF8D-B4AB-16D491B5565B}"/>
              </a:ext>
            </a:extLst>
          </p:cNvPr>
          <p:cNvSpPr txBox="1">
            <a:spLocks/>
          </p:cNvSpPr>
          <p:nvPr/>
        </p:nvSpPr>
        <p:spPr>
          <a:xfrm>
            <a:off x="313374" y="863597"/>
            <a:ext cx="5661892" cy="86359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solidFill>
                  <a:schemeClr val="tx1"/>
                </a:solidFill>
                <a:latin typeface="Quicksand"/>
              </a:rPr>
              <a:t>Tampilkan bilangan genap dari 2 sampai 20</a:t>
            </a:r>
          </a:p>
        </p:txBody>
      </p:sp>
      <p:pic>
        <p:nvPicPr>
          <p:cNvPr id="17" name="Picture 16">
            <a:extLst>
              <a:ext uri="{FF2B5EF4-FFF2-40B4-BE49-F238E27FC236}">
                <a16:creationId xmlns:a16="http://schemas.microsoft.com/office/drawing/2014/main" id="{AA320766-68F5-AB6D-B396-9ABA424B45FE}"/>
              </a:ext>
            </a:extLst>
          </p:cNvPr>
          <p:cNvPicPr>
            <a:picLocks noChangeAspect="1"/>
          </p:cNvPicPr>
          <p:nvPr/>
        </p:nvPicPr>
        <p:blipFill>
          <a:blip r:embed="rId4"/>
          <a:stretch>
            <a:fillRect/>
          </a:stretch>
        </p:blipFill>
        <p:spPr>
          <a:xfrm>
            <a:off x="7782057" y="1380719"/>
            <a:ext cx="4096569" cy="4551003"/>
          </a:xfrm>
          <a:prstGeom prst="rect">
            <a:avLst/>
          </a:prstGeom>
        </p:spPr>
      </p:pic>
      <p:pic>
        <p:nvPicPr>
          <p:cNvPr id="18" name="Picture 17">
            <a:extLst>
              <a:ext uri="{FF2B5EF4-FFF2-40B4-BE49-F238E27FC236}">
                <a16:creationId xmlns:a16="http://schemas.microsoft.com/office/drawing/2014/main" id="{DB785752-ED42-8436-245F-AED813334ADD}"/>
              </a:ext>
            </a:extLst>
          </p:cNvPr>
          <p:cNvPicPr>
            <a:picLocks noChangeAspect="1"/>
          </p:cNvPicPr>
          <p:nvPr/>
        </p:nvPicPr>
        <p:blipFill>
          <a:blip r:embed="rId5"/>
          <a:stretch>
            <a:fillRect/>
          </a:stretch>
        </p:blipFill>
        <p:spPr>
          <a:xfrm>
            <a:off x="688537" y="3656221"/>
            <a:ext cx="2851649" cy="2471429"/>
          </a:xfrm>
          <a:prstGeom prst="rect">
            <a:avLst/>
          </a:prstGeom>
          <a:ln>
            <a:solidFill>
              <a:schemeClr val="accent1"/>
            </a:solidFill>
          </a:ln>
        </p:spPr>
      </p:pic>
      <p:pic>
        <p:nvPicPr>
          <p:cNvPr id="19" name="Picture 18">
            <a:extLst>
              <a:ext uri="{FF2B5EF4-FFF2-40B4-BE49-F238E27FC236}">
                <a16:creationId xmlns:a16="http://schemas.microsoft.com/office/drawing/2014/main" id="{0584331F-29D6-AA12-3B0A-AA82E7C9097D}"/>
              </a:ext>
            </a:extLst>
          </p:cNvPr>
          <p:cNvPicPr>
            <a:picLocks noChangeAspect="1"/>
          </p:cNvPicPr>
          <p:nvPr/>
        </p:nvPicPr>
        <p:blipFill>
          <a:blip r:embed="rId6"/>
          <a:stretch>
            <a:fillRect/>
          </a:stretch>
        </p:blipFill>
        <p:spPr>
          <a:xfrm>
            <a:off x="688537" y="1624693"/>
            <a:ext cx="6495605" cy="1848235"/>
          </a:xfrm>
          <a:prstGeom prst="rect">
            <a:avLst/>
          </a:prstGeom>
          <a:ln>
            <a:solidFill>
              <a:schemeClr val="accent1"/>
            </a:solidFill>
          </a:ln>
        </p:spPr>
      </p:pic>
    </p:spTree>
    <p:extLst>
      <p:ext uri="{BB962C8B-B14F-4D97-AF65-F5344CB8AC3E}">
        <p14:creationId xmlns:p14="http://schemas.microsoft.com/office/powerpoint/2010/main" val="3184921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8F92DF-7C11-1636-2F3C-B04C795191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B772D4-5E9C-200E-E083-DB2D454BD9A5}"/>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63C79B60-3FCB-9719-0227-F27F9C9E7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BC633BA7-0EC5-C6E7-925E-83BC00148FEE}"/>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E9052991-9672-11BB-C995-CCF9E38479C0}"/>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63B823E9-8032-CF1D-AD28-F4532D13B320}"/>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For Loop Statement (Task 2)</a:t>
            </a:r>
          </a:p>
        </p:txBody>
      </p:sp>
      <p:sp>
        <p:nvSpPr>
          <p:cNvPr id="7" name="Oval 6">
            <a:extLst>
              <a:ext uri="{FF2B5EF4-FFF2-40B4-BE49-F238E27FC236}">
                <a16:creationId xmlns:a16="http://schemas.microsoft.com/office/drawing/2014/main" id="{70C5F619-4F03-1655-FDC8-11F8FA7D4112}"/>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6</a:t>
            </a:fld>
            <a:endParaRPr lang="en-ID" sz="1200" b="1">
              <a:solidFill>
                <a:schemeClr val="tx1"/>
              </a:solidFill>
            </a:endParaRPr>
          </a:p>
        </p:txBody>
      </p:sp>
      <p:sp>
        <p:nvSpPr>
          <p:cNvPr id="3" name="Google Shape;405;p39">
            <a:extLst>
              <a:ext uri="{FF2B5EF4-FFF2-40B4-BE49-F238E27FC236}">
                <a16:creationId xmlns:a16="http://schemas.microsoft.com/office/drawing/2014/main" id="{16FDA84A-D851-26D4-7223-9C16AFC9ED20}"/>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60E9A985-2576-488F-A93D-7018C31F166B}"/>
              </a:ext>
            </a:extLst>
          </p:cNvPr>
          <p:cNvSpPr txBox="1">
            <a:spLocks/>
          </p:cNvSpPr>
          <p:nvPr/>
        </p:nvSpPr>
        <p:spPr>
          <a:xfrm>
            <a:off x="313374" y="1349775"/>
            <a:ext cx="5661892" cy="706718"/>
          </a:xfrm>
          <a:prstGeom prst="rect">
            <a:avLst/>
          </a:prstGeom>
          <a:solidFill>
            <a:srgbClr val="0070C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solidFill>
                  <a:schemeClr val="bg1"/>
                </a:solidFill>
                <a:latin typeface="Quicksand"/>
              </a:rPr>
              <a:t>Tampilkan hasil grafik y = x^2</a:t>
            </a:r>
          </a:p>
        </p:txBody>
      </p:sp>
      <p:pic>
        <p:nvPicPr>
          <p:cNvPr id="11" name="Picture 10">
            <a:extLst>
              <a:ext uri="{FF2B5EF4-FFF2-40B4-BE49-F238E27FC236}">
                <a16:creationId xmlns:a16="http://schemas.microsoft.com/office/drawing/2014/main" id="{18AD5D48-13FA-12F2-6DDA-9F41C49CB6B8}"/>
              </a:ext>
            </a:extLst>
          </p:cNvPr>
          <p:cNvPicPr>
            <a:picLocks noChangeAspect="1"/>
          </p:cNvPicPr>
          <p:nvPr/>
        </p:nvPicPr>
        <p:blipFill>
          <a:blip r:embed="rId4"/>
          <a:stretch>
            <a:fillRect/>
          </a:stretch>
        </p:blipFill>
        <p:spPr>
          <a:xfrm>
            <a:off x="6500420" y="1349775"/>
            <a:ext cx="4989416" cy="4449603"/>
          </a:xfrm>
          <a:prstGeom prst="rect">
            <a:avLst/>
          </a:prstGeom>
        </p:spPr>
      </p:pic>
      <p:pic>
        <p:nvPicPr>
          <p:cNvPr id="13" name="Picture 12">
            <a:extLst>
              <a:ext uri="{FF2B5EF4-FFF2-40B4-BE49-F238E27FC236}">
                <a16:creationId xmlns:a16="http://schemas.microsoft.com/office/drawing/2014/main" id="{4D1D000D-7BBD-FBA6-02CA-3019D46ED99A}"/>
              </a:ext>
            </a:extLst>
          </p:cNvPr>
          <p:cNvPicPr>
            <a:picLocks noChangeAspect="1"/>
          </p:cNvPicPr>
          <p:nvPr/>
        </p:nvPicPr>
        <p:blipFill>
          <a:blip r:embed="rId5"/>
          <a:stretch>
            <a:fillRect/>
          </a:stretch>
        </p:blipFill>
        <p:spPr>
          <a:xfrm>
            <a:off x="360218" y="2721379"/>
            <a:ext cx="4727965" cy="2650720"/>
          </a:xfrm>
          <a:prstGeom prst="rect">
            <a:avLst/>
          </a:prstGeom>
        </p:spPr>
      </p:pic>
    </p:spTree>
    <p:extLst>
      <p:ext uri="{BB962C8B-B14F-4D97-AF65-F5344CB8AC3E}">
        <p14:creationId xmlns:p14="http://schemas.microsoft.com/office/powerpoint/2010/main" val="3149750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454DC1-8E66-A6D4-CC86-6823CF617B3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A0D495-E09B-6CD9-2ADD-8FC41CA09DC5}"/>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21714031-2E79-1673-FC73-A0827929DD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C7242F19-63E8-81EE-D997-8C4909A4FE9F}"/>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2F4F71AA-3BF6-0DE8-0782-6F22A2530529}"/>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BAF0C8A5-6204-457D-05F8-BBA20652FDCD}"/>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For Loop Statement (Task 3)</a:t>
            </a:r>
          </a:p>
        </p:txBody>
      </p:sp>
      <p:sp>
        <p:nvSpPr>
          <p:cNvPr id="7" name="Oval 6">
            <a:extLst>
              <a:ext uri="{FF2B5EF4-FFF2-40B4-BE49-F238E27FC236}">
                <a16:creationId xmlns:a16="http://schemas.microsoft.com/office/drawing/2014/main" id="{1FB744FC-BAA3-E8ED-68D2-9BA3BA226FC3}"/>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7</a:t>
            </a:fld>
            <a:endParaRPr lang="en-ID" sz="1200" b="1">
              <a:solidFill>
                <a:schemeClr val="tx1"/>
              </a:solidFill>
            </a:endParaRPr>
          </a:p>
        </p:txBody>
      </p:sp>
      <p:sp>
        <p:nvSpPr>
          <p:cNvPr id="3" name="Google Shape;405;p39">
            <a:extLst>
              <a:ext uri="{FF2B5EF4-FFF2-40B4-BE49-F238E27FC236}">
                <a16:creationId xmlns:a16="http://schemas.microsoft.com/office/drawing/2014/main" id="{FA0DFBEB-AE64-F025-CC12-B520C4E6787F}"/>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9916AEB8-0238-DAE1-8434-C478BBF6CD3E}"/>
              </a:ext>
            </a:extLst>
          </p:cNvPr>
          <p:cNvSpPr txBox="1">
            <a:spLocks/>
          </p:cNvSpPr>
          <p:nvPr/>
        </p:nvSpPr>
        <p:spPr>
          <a:xfrm>
            <a:off x="313374" y="1052997"/>
            <a:ext cx="5661892" cy="863599"/>
          </a:xfrm>
          <a:prstGeom prst="rect">
            <a:avLst/>
          </a:prstGeom>
          <a:solidFill>
            <a:srgbClr val="00206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b="1">
                <a:solidFill>
                  <a:schemeClr val="bg1"/>
                </a:solidFill>
                <a:latin typeface="Quicksand"/>
              </a:rPr>
              <a:t>Perulangan Menurun (Decrement)</a:t>
            </a:r>
          </a:p>
        </p:txBody>
      </p:sp>
      <p:pic>
        <p:nvPicPr>
          <p:cNvPr id="14" name="Picture 13">
            <a:extLst>
              <a:ext uri="{FF2B5EF4-FFF2-40B4-BE49-F238E27FC236}">
                <a16:creationId xmlns:a16="http://schemas.microsoft.com/office/drawing/2014/main" id="{E12AA47D-BC70-38AB-6C7B-BB1E4FDD907D}"/>
              </a:ext>
            </a:extLst>
          </p:cNvPr>
          <p:cNvPicPr>
            <a:picLocks noChangeAspect="1"/>
          </p:cNvPicPr>
          <p:nvPr/>
        </p:nvPicPr>
        <p:blipFill>
          <a:blip r:embed="rId4"/>
          <a:stretch>
            <a:fillRect/>
          </a:stretch>
        </p:blipFill>
        <p:spPr>
          <a:xfrm>
            <a:off x="8174325" y="2243214"/>
            <a:ext cx="3173230" cy="2454763"/>
          </a:xfrm>
          <a:prstGeom prst="rect">
            <a:avLst/>
          </a:prstGeom>
          <a:ln>
            <a:solidFill>
              <a:schemeClr val="accent1"/>
            </a:solidFill>
          </a:ln>
        </p:spPr>
      </p:pic>
      <p:pic>
        <p:nvPicPr>
          <p:cNvPr id="18" name="Picture 17">
            <a:extLst>
              <a:ext uri="{FF2B5EF4-FFF2-40B4-BE49-F238E27FC236}">
                <a16:creationId xmlns:a16="http://schemas.microsoft.com/office/drawing/2014/main" id="{A447B7F3-4764-F14D-3F0D-6D8DC5FE9072}"/>
              </a:ext>
            </a:extLst>
          </p:cNvPr>
          <p:cNvPicPr>
            <a:picLocks noChangeAspect="1"/>
          </p:cNvPicPr>
          <p:nvPr/>
        </p:nvPicPr>
        <p:blipFill>
          <a:blip r:embed="rId5"/>
          <a:stretch>
            <a:fillRect/>
          </a:stretch>
        </p:blipFill>
        <p:spPr>
          <a:xfrm>
            <a:off x="313374" y="2595563"/>
            <a:ext cx="7358053" cy="2216281"/>
          </a:xfrm>
          <a:prstGeom prst="rect">
            <a:avLst/>
          </a:prstGeom>
          <a:ln>
            <a:solidFill>
              <a:schemeClr val="accent1"/>
            </a:solidFill>
          </a:ln>
        </p:spPr>
      </p:pic>
    </p:spTree>
    <p:extLst>
      <p:ext uri="{BB962C8B-B14F-4D97-AF65-F5344CB8AC3E}">
        <p14:creationId xmlns:p14="http://schemas.microsoft.com/office/powerpoint/2010/main" val="2583226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19F42F-2601-C518-B55D-0DC12E56E6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6ADF8C-E2C7-A90D-4995-65FE96D2AD02}"/>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pic>
        <p:nvPicPr>
          <p:cNvPr id="5" name="Picture 2">
            <a:extLst>
              <a:ext uri="{FF2B5EF4-FFF2-40B4-BE49-F238E27FC236}">
                <a16:creationId xmlns:a16="http://schemas.microsoft.com/office/drawing/2014/main" id="{F1DB1207-4D61-2006-7BAD-42B902779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0964912E-3AD5-057A-D1E3-0AC86ECB2C8C}"/>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2DE638FC-76F3-7D45-8B55-5CD73F0B5EF8}"/>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bg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83B6683F-D43B-EBAB-8265-4C25EB6BBD2F}"/>
              </a:ext>
            </a:extLst>
          </p:cNvPr>
          <p:cNvSpPr txBox="1">
            <a:spLocks/>
          </p:cNvSpPr>
          <p:nvPr/>
        </p:nvSpPr>
        <p:spPr>
          <a:xfrm>
            <a:off x="928688" y="3186600"/>
            <a:ext cx="1090309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4800" b="1" kern="0">
                <a:solidFill>
                  <a:schemeClr val="bg1"/>
                </a:solidFill>
              </a:rPr>
              <a:t>WHILE LOOPING STATEMENT</a:t>
            </a:r>
          </a:p>
        </p:txBody>
      </p:sp>
      <p:sp>
        <p:nvSpPr>
          <p:cNvPr id="7" name="Oval 6">
            <a:extLst>
              <a:ext uri="{FF2B5EF4-FFF2-40B4-BE49-F238E27FC236}">
                <a16:creationId xmlns:a16="http://schemas.microsoft.com/office/drawing/2014/main" id="{A9F68F62-C7DD-ECA9-FE8A-93DC458E6748}"/>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bg1"/>
                </a:solidFill>
              </a:rPr>
              <a:t>8</a:t>
            </a:fld>
            <a:endParaRPr lang="en-ID" sz="1200" b="1">
              <a:solidFill>
                <a:schemeClr val="bg1"/>
              </a:solidFill>
            </a:endParaRPr>
          </a:p>
        </p:txBody>
      </p:sp>
      <p:sp>
        <p:nvSpPr>
          <p:cNvPr id="3" name="Google Shape;405;p39">
            <a:extLst>
              <a:ext uri="{FF2B5EF4-FFF2-40B4-BE49-F238E27FC236}">
                <a16:creationId xmlns:a16="http://schemas.microsoft.com/office/drawing/2014/main" id="{23FC014C-EBFE-B1F4-38FD-517633C92DBA}"/>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chemeClr val="bg1"/>
                </a:solidFill>
                <a:effectLst/>
                <a:uLnTx/>
                <a:uFillTx/>
                <a:latin typeface="Quicksand"/>
                <a:sym typeface="Quicksand"/>
              </a:rPr>
              <a:t>Pert. 4 – Perulangan For dan While</a:t>
            </a:r>
          </a:p>
        </p:txBody>
      </p:sp>
    </p:spTree>
    <p:extLst>
      <p:ext uri="{BB962C8B-B14F-4D97-AF65-F5344CB8AC3E}">
        <p14:creationId xmlns:p14="http://schemas.microsoft.com/office/powerpoint/2010/main" val="106313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51C92F-1937-7634-A852-1FFB25F3FCB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B538591-1C4F-F686-89E1-7DCCBBF097A0}"/>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75709830-CD24-A00A-2133-A6970D5EC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C3E48DCD-855D-4236-6AF2-8DDD8011931B}"/>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9DD233F1-AF08-DDF6-B670-E88482F71851}"/>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8C99287C-BE9A-025D-6E1D-FBC8693E74D1}"/>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lang="en-US" sz="3200" b="1" kern="0">
                <a:solidFill>
                  <a:schemeClr val="tx1"/>
                </a:solidFill>
              </a:rPr>
              <a:t>Tipe Looping (While Loop)</a:t>
            </a:r>
            <a:endParaRPr kumimoji="0" lang="en-US" sz="3200" b="1" i="0" u="none" strike="noStrike" kern="0" cap="none" spc="0" normalizeH="0" baseline="0" noProof="0">
              <a:ln>
                <a:noFill/>
              </a:ln>
              <a:solidFill>
                <a:schemeClr val="tx1"/>
              </a:solidFill>
              <a:effectLst/>
              <a:uLnTx/>
              <a:uFillTx/>
              <a:sym typeface="Quicksand"/>
            </a:endParaRPr>
          </a:p>
        </p:txBody>
      </p:sp>
      <p:sp>
        <p:nvSpPr>
          <p:cNvPr id="7" name="Oval 6">
            <a:extLst>
              <a:ext uri="{FF2B5EF4-FFF2-40B4-BE49-F238E27FC236}">
                <a16:creationId xmlns:a16="http://schemas.microsoft.com/office/drawing/2014/main" id="{6752273B-FFE9-0DF1-3673-2B24666EA21F}"/>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9</a:t>
            </a:fld>
            <a:endParaRPr lang="en-ID" sz="1200" b="1">
              <a:solidFill>
                <a:schemeClr val="tx1"/>
              </a:solidFill>
            </a:endParaRPr>
          </a:p>
        </p:txBody>
      </p:sp>
      <p:sp>
        <p:nvSpPr>
          <p:cNvPr id="3" name="Google Shape;405;p39">
            <a:extLst>
              <a:ext uri="{FF2B5EF4-FFF2-40B4-BE49-F238E27FC236}">
                <a16:creationId xmlns:a16="http://schemas.microsoft.com/office/drawing/2014/main" id="{154BDA3C-2813-5677-4B70-E85F935A95C2}"/>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4 – Perulangan For dan While</a:t>
            </a:r>
          </a:p>
        </p:txBody>
      </p:sp>
      <p:sp>
        <p:nvSpPr>
          <p:cNvPr id="6" name="Google Shape;6457;p40">
            <a:extLst>
              <a:ext uri="{FF2B5EF4-FFF2-40B4-BE49-F238E27FC236}">
                <a16:creationId xmlns:a16="http://schemas.microsoft.com/office/drawing/2014/main" id="{8340A97F-65C2-F092-EB82-9EE1C9E34D96}"/>
              </a:ext>
            </a:extLst>
          </p:cNvPr>
          <p:cNvSpPr txBox="1">
            <a:spLocks/>
          </p:cNvSpPr>
          <p:nvPr/>
        </p:nvSpPr>
        <p:spPr>
          <a:xfrm>
            <a:off x="368299" y="1068100"/>
            <a:ext cx="11463481" cy="101095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latin typeface="Quicksand"/>
              </a:rPr>
              <a:t>Perulangan while berulang kali mengeksekusi pernyataan saat kondisi tertentu benar.</a:t>
            </a:r>
          </a:p>
          <a:p>
            <a:pPr algn="just"/>
            <a:r>
              <a:rPr lang="en-US" sz="2133">
                <a:latin typeface="Quicksand"/>
              </a:rPr>
              <a:t>Sintaks dari while loop di MATLAB adalah sebagai berikut:</a:t>
            </a:r>
          </a:p>
        </p:txBody>
      </p:sp>
      <p:pic>
        <p:nvPicPr>
          <p:cNvPr id="11" name="Picture 10">
            <a:extLst>
              <a:ext uri="{FF2B5EF4-FFF2-40B4-BE49-F238E27FC236}">
                <a16:creationId xmlns:a16="http://schemas.microsoft.com/office/drawing/2014/main" id="{BC63658F-452E-4B02-C991-898603D472E4}"/>
              </a:ext>
            </a:extLst>
          </p:cNvPr>
          <p:cNvPicPr>
            <a:picLocks noChangeAspect="1"/>
          </p:cNvPicPr>
          <p:nvPr/>
        </p:nvPicPr>
        <p:blipFill>
          <a:blip r:embed="rId4"/>
          <a:stretch>
            <a:fillRect/>
          </a:stretch>
        </p:blipFill>
        <p:spPr>
          <a:xfrm>
            <a:off x="1539281" y="2691076"/>
            <a:ext cx="2902967" cy="1383880"/>
          </a:xfrm>
          <a:prstGeom prst="rect">
            <a:avLst/>
          </a:prstGeom>
        </p:spPr>
      </p:pic>
      <p:pic>
        <p:nvPicPr>
          <p:cNvPr id="13" name="Picture 12">
            <a:extLst>
              <a:ext uri="{FF2B5EF4-FFF2-40B4-BE49-F238E27FC236}">
                <a16:creationId xmlns:a16="http://schemas.microsoft.com/office/drawing/2014/main" id="{8029E0B8-336F-9333-FAED-068C8483E95D}"/>
              </a:ext>
            </a:extLst>
          </p:cNvPr>
          <p:cNvPicPr>
            <a:picLocks noChangeAspect="1"/>
          </p:cNvPicPr>
          <p:nvPr/>
        </p:nvPicPr>
        <p:blipFill rotWithShape="1">
          <a:blip r:embed="rId5"/>
          <a:srcRect b="8788"/>
          <a:stretch/>
        </p:blipFill>
        <p:spPr>
          <a:xfrm>
            <a:off x="5128845" y="2012236"/>
            <a:ext cx="6189589" cy="2407702"/>
          </a:xfrm>
          <a:prstGeom prst="rect">
            <a:avLst/>
          </a:prstGeom>
          <a:ln w="38100" cap="sq">
            <a:solidFill>
              <a:schemeClr val="tx2"/>
            </a:solidFill>
            <a:prstDash val="solid"/>
            <a:miter lim="800000"/>
          </a:ln>
          <a:effectLst>
            <a:outerShdw blurRad="50800" dist="38100" dir="2700000" algn="tl" rotWithShape="0">
              <a:srgbClr val="000000">
                <a:alpha val="43000"/>
              </a:srgbClr>
            </a:outerShdw>
          </a:effectLst>
        </p:spPr>
      </p:pic>
      <p:sp>
        <p:nvSpPr>
          <p:cNvPr id="16" name="Google Shape;6457;p40">
            <a:extLst>
              <a:ext uri="{FF2B5EF4-FFF2-40B4-BE49-F238E27FC236}">
                <a16:creationId xmlns:a16="http://schemas.microsoft.com/office/drawing/2014/main" id="{16FA4D2D-DC0F-8E72-9DAA-7BCDE8B5B077}"/>
              </a:ext>
            </a:extLst>
          </p:cNvPr>
          <p:cNvSpPr txBox="1">
            <a:spLocks/>
          </p:cNvSpPr>
          <p:nvPr/>
        </p:nvSpPr>
        <p:spPr>
          <a:xfrm>
            <a:off x="368300" y="4837266"/>
            <a:ext cx="11176000" cy="101095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t>Perulangan while digunakan ketika jumlah perulangannya tidak diketahui sebelumnya, tetapi bergantung pada suatu kondisi tertentu. Perulangan akan terus berjalan selama kondisi bernilai true (1) dan berhenti ketika kondisi menjadi false (0).</a:t>
            </a:r>
          </a:p>
        </p:txBody>
      </p:sp>
    </p:spTree>
    <p:extLst>
      <p:ext uri="{BB962C8B-B14F-4D97-AF65-F5344CB8AC3E}">
        <p14:creationId xmlns:p14="http://schemas.microsoft.com/office/powerpoint/2010/main" val="3009957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E77F3A-8EF4-7D43-1F1D-9135E4DBE7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CC4BD1A-541E-6700-8BB3-A51A11392164}"/>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FB5F45CA-D2C6-6A51-3894-99D7838DA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F9DDB9AB-E645-C31C-5EFA-D3C9B6475180}"/>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F86E1FE1-54DB-2BC8-F546-9792F3FFC008}"/>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A8D4A066-B234-7D75-8AC9-60A2D422C1C2}"/>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For Loop Statement (Task 4)</a:t>
            </a:r>
          </a:p>
        </p:txBody>
      </p:sp>
      <p:sp>
        <p:nvSpPr>
          <p:cNvPr id="7" name="Oval 6">
            <a:extLst>
              <a:ext uri="{FF2B5EF4-FFF2-40B4-BE49-F238E27FC236}">
                <a16:creationId xmlns:a16="http://schemas.microsoft.com/office/drawing/2014/main" id="{66649DF0-FE3D-5D67-FC83-4894298CD85F}"/>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10</a:t>
            </a:fld>
            <a:endParaRPr lang="en-ID" sz="1200" b="1">
              <a:solidFill>
                <a:schemeClr val="tx1"/>
              </a:solidFill>
            </a:endParaRPr>
          </a:p>
        </p:txBody>
      </p:sp>
      <p:sp>
        <p:nvSpPr>
          <p:cNvPr id="3" name="Google Shape;405;p39">
            <a:extLst>
              <a:ext uri="{FF2B5EF4-FFF2-40B4-BE49-F238E27FC236}">
                <a16:creationId xmlns:a16="http://schemas.microsoft.com/office/drawing/2014/main" id="{A3F79083-677A-80F2-5FBE-77CA0A64388F}"/>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E00B7094-23DF-E5A0-943E-91E16BB9D491}"/>
              </a:ext>
            </a:extLst>
          </p:cNvPr>
          <p:cNvSpPr txBox="1">
            <a:spLocks/>
          </p:cNvSpPr>
          <p:nvPr/>
        </p:nvSpPr>
        <p:spPr>
          <a:xfrm>
            <a:off x="55415" y="919014"/>
            <a:ext cx="12011673" cy="101095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latin typeface="Quicksand"/>
              </a:rPr>
              <a:t>Tampillkan nilai dari a dari 10-20.</a:t>
            </a:r>
          </a:p>
        </p:txBody>
      </p:sp>
      <p:pic>
        <p:nvPicPr>
          <p:cNvPr id="2" name="Picture 1">
            <a:extLst>
              <a:ext uri="{FF2B5EF4-FFF2-40B4-BE49-F238E27FC236}">
                <a16:creationId xmlns:a16="http://schemas.microsoft.com/office/drawing/2014/main" id="{7F7709A5-362A-1887-53AD-27FBE43E30AC}"/>
              </a:ext>
            </a:extLst>
          </p:cNvPr>
          <p:cNvPicPr>
            <a:picLocks noChangeAspect="1"/>
          </p:cNvPicPr>
          <p:nvPr/>
        </p:nvPicPr>
        <p:blipFill>
          <a:blip r:embed="rId4"/>
          <a:stretch>
            <a:fillRect/>
          </a:stretch>
        </p:blipFill>
        <p:spPr>
          <a:xfrm>
            <a:off x="1344218" y="2314997"/>
            <a:ext cx="3697921" cy="21462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3F7CA84D-A113-47E7-0E7C-4448EFBC10D1}"/>
              </a:ext>
            </a:extLst>
          </p:cNvPr>
          <p:cNvPicPr>
            <a:picLocks noChangeAspect="1"/>
          </p:cNvPicPr>
          <p:nvPr/>
        </p:nvPicPr>
        <p:blipFill>
          <a:blip r:embed="rId5"/>
          <a:stretch>
            <a:fillRect/>
          </a:stretch>
        </p:blipFill>
        <p:spPr>
          <a:xfrm>
            <a:off x="5218431" y="2314997"/>
            <a:ext cx="1955728" cy="2996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3BBF6F54-FC6C-B53C-7A7E-6FA3E99A0B96}"/>
              </a:ext>
            </a:extLst>
          </p:cNvPr>
          <p:cNvPicPr>
            <a:picLocks noChangeAspect="1"/>
          </p:cNvPicPr>
          <p:nvPr/>
        </p:nvPicPr>
        <p:blipFill>
          <a:blip r:embed="rId6"/>
          <a:stretch>
            <a:fillRect/>
          </a:stretch>
        </p:blipFill>
        <p:spPr>
          <a:xfrm>
            <a:off x="7887972" y="2111287"/>
            <a:ext cx="3348641" cy="3720108"/>
          </a:xfrm>
          <a:prstGeom prst="rect">
            <a:avLst/>
          </a:prstGeom>
        </p:spPr>
      </p:pic>
    </p:spTree>
    <p:extLst>
      <p:ext uri="{BB962C8B-B14F-4D97-AF65-F5344CB8AC3E}">
        <p14:creationId xmlns:p14="http://schemas.microsoft.com/office/powerpoint/2010/main" val="805635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BDDF83-7532-B41F-C44B-B3805790A8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731E88-CFDB-C2D2-2059-D9992E2B15E4}"/>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D5D255B9-C3A0-6210-8ADB-9AD30D5F9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E8A67CBC-BC13-DD91-F197-AC767F41A8A4}"/>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E299F92B-021E-DB52-404B-E3E0A36E18A9}"/>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3897A3F3-2BE7-C1B3-EA4F-52B933EAB687}"/>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lang="en-US" sz="3200" b="1" kern="0">
                <a:solidFill>
                  <a:schemeClr val="tx1"/>
                </a:solidFill>
              </a:rPr>
              <a:t>CATATAN UNTUK WHILE LOOP</a:t>
            </a:r>
            <a:endParaRPr kumimoji="0" lang="en-US" sz="3200" b="1" i="0" u="none" strike="noStrike" kern="0" cap="none" spc="0" normalizeH="0" baseline="0" noProof="0">
              <a:ln>
                <a:noFill/>
              </a:ln>
              <a:solidFill>
                <a:schemeClr val="tx1"/>
              </a:solidFill>
              <a:effectLst/>
              <a:uLnTx/>
              <a:uFillTx/>
              <a:sym typeface="Quicksand"/>
            </a:endParaRPr>
          </a:p>
        </p:txBody>
      </p:sp>
      <p:sp>
        <p:nvSpPr>
          <p:cNvPr id="7" name="Oval 6">
            <a:extLst>
              <a:ext uri="{FF2B5EF4-FFF2-40B4-BE49-F238E27FC236}">
                <a16:creationId xmlns:a16="http://schemas.microsoft.com/office/drawing/2014/main" id="{C756705A-5090-EC94-2192-90F8A3B4A791}"/>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11</a:t>
            </a:fld>
            <a:endParaRPr lang="en-ID" sz="1200" b="1">
              <a:solidFill>
                <a:schemeClr val="tx1"/>
              </a:solidFill>
            </a:endParaRPr>
          </a:p>
        </p:txBody>
      </p:sp>
      <p:sp>
        <p:nvSpPr>
          <p:cNvPr id="3" name="Google Shape;405;p39">
            <a:extLst>
              <a:ext uri="{FF2B5EF4-FFF2-40B4-BE49-F238E27FC236}">
                <a16:creationId xmlns:a16="http://schemas.microsoft.com/office/drawing/2014/main" id="{D8A3D4BC-3765-6177-A9DA-84092EBFCBC1}"/>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4A694386-73BB-DA65-3FF5-D492B6094A91}"/>
              </a:ext>
            </a:extLst>
          </p:cNvPr>
          <p:cNvSpPr txBox="1">
            <a:spLocks/>
          </p:cNvSpPr>
          <p:nvPr/>
        </p:nvSpPr>
        <p:spPr>
          <a:xfrm>
            <a:off x="294408" y="1056895"/>
            <a:ext cx="11603181" cy="1671786"/>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b="1">
                <a:solidFill>
                  <a:srgbClr val="FF0000"/>
                </a:solidFill>
                <a:latin typeface="Quicksand"/>
              </a:rPr>
              <a:t>Hati-hati dengan while looping!! </a:t>
            </a:r>
            <a:r>
              <a:rPr lang="en-US" sz="2133">
                <a:latin typeface="Quicksand"/>
              </a:rPr>
              <a:t>Jika expression atau increment tidak tepat, bisa menyebabkan ‘LOOPING FOREVER’.</a:t>
            </a:r>
          </a:p>
          <a:p>
            <a:pPr algn="just"/>
            <a:r>
              <a:rPr lang="en-US" sz="2133" b="1">
                <a:solidFill>
                  <a:srgbClr val="FF0000"/>
                </a:solidFill>
                <a:latin typeface="Quicksand"/>
              </a:rPr>
              <a:t>Cara menghentikan: </a:t>
            </a:r>
            <a:r>
              <a:rPr lang="en-US" sz="2133">
                <a:latin typeface="Quicksand"/>
              </a:rPr>
              <a:t>Klik sembarang pada command windows (sampai command windows aktif), lalu tekan </a:t>
            </a:r>
            <a:r>
              <a:rPr lang="en-US" sz="2133" b="1">
                <a:solidFill>
                  <a:srgbClr val="FF0000"/>
                </a:solidFill>
                <a:latin typeface="Quicksand"/>
              </a:rPr>
              <a:t>Ctrl+C</a:t>
            </a:r>
          </a:p>
        </p:txBody>
      </p:sp>
      <p:pic>
        <p:nvPicPr>
          <p:cNvPr id="2" name="Picture 1">
            <a:extLst>
              <a:ext uri="{FF2B5EF4-FFF2-40B4-BE49-F238E27FC236}">
                <a16:creationId xmlns:a16="http://schemas.microsoft.com/office/drawing/2014/main" id="{D526805C-1E1C-6698-181D-16A9033DAA4B}"/>
              </a:ext>
            </a:extLst>
          </p:cNvPr>
          <p:cNvPicPr>
            <a:picLocks noChangeAspect="1"/>
          </p:cNvPicPr>
          <p:nvPr/>
        </p:nvPicPr>
        <p:blipFill>
          <a:blip r:embed="rId4"/>
          <a:stretch>
            <a:fillRect/>
          </a:stretch>
        </p:blipFill>
        <p:spPr>
          <a:xfrm>
            <a:off x="3361376" y="3058968"/>
            <a:ext cx="5469248" cy="2048741"/>
          </a:xfrm>
          <a:prstGeom prst="rect">
            <a:avLst/>
          </a:prstGeom>
        </p:spPr>
      </p:pic>
      <p:cxnSp>
        <p:nvCxnSpPr>
          <p:cNvPr id="8" name="Straight Arrow Connector 7">
            <a:extLst>
              <a:ext uri="{FF2B5EF4-FFF2-40B4-BE49-F238E27FC236}">
                <a16:creationId xmlns:a16="http://schemas.microsoft.com/office/drawing/2014/main" id="{A640960F-A1B7-1761-9BCD-7B913FFF76DB}"/>
              </a:ext>
            </a:extLst>
          </p:cNvPr>
          <p:cNvCxnSpPr>
            <a:cxnSpLocks/>
          </p:cNvCxnSpPr>
          <p:nvPr/>
        </p:nvCxnSpPr>
        <p:spPr>
          <a:xfrm flipV="1">
            <a:off x="2309091" y="4544291"/>
            <a:ext cx="1431636" cy="56341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E363EC4-4797-EE8C-6F70-A636CE4BEA44}"/>
              </a:ext>
            </a:extLst>
          </p:cNvPr>
          <p:cNvCxnSpPr>
            <a:cxnSpLocks/>
          </p:cNvCxnSpPr>
          <p:nvPr/>
        </p:nvCxnSpPr>
        <p:spPr>
          <a:xfrm flipH="1">
            <a:off x="5994401" y="3429000"/>
            <a:ext cx="3168073" cy="40409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Google Shape;6457;p40">
            <a:extLst>
              <a:ext uri="{FF2B5EF4-FFF2-40B4-BE49-F238E27FC236}">
                <a16:creationId xmlns:a16="http://schemas.microsoft.com/office/drawing/2014/main" id="{26DEAE91-C6B8-3030-1348-29F8B11494DC}"/>
              </a:ext>
            </a:extLst>
          </p:cNvPr>
          <p:cNvSpPr txBox="1">
            <a:spLocks/>
          </p:cNvSpPr>
          <p:nvPr/>
        </p:nvSpPr>
        <p:spPr>
          <a:xfrm>
            <a:off x="1238395" y="5172055"/>
            <a:ext cx="2469327" cy="6907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solidFill>
                  <a:srgbClr val="FF0000"/>
                </a:solidFill>
              </a:rPr>
              <a:t>Increment / i</a:t>
            </a:r>
          </a:p>
          <a:p>
            <a:pPr algn="just"/>
            <a:r>
              <a:rPr lang="en-US" sz="2133">
                <a:solidFill>
                  <a:srgbClr val="FF0000"/>
                </a:solidFill>
              </a:rPr>
              <a:t>WAJIB ADA</a:t>
            </a:r>
            <a:endParaRPr lang="en-US" sz="2133" b="1">
              <a:solidFill>
                <a:srgbClr val="FF0000"/>
              </a:solidFill>
            </a:endParaRPr>
          </a:p>
        </p:txBody>
      </p:sp>
      <p:sp>
        <p:nvSpPr>
          <p:cNvPr id="13" name="Google Shape;6457;p40">
            <a:extLst>
              <a:ext uri="{FF2B5EF4-FFF2-40B4-BE49-F238E27FC236}">
                <a16:creationId xmlns:a16="http://schemas.microsoft.com/office/drawing/2014/main" id="{D1F4FA2C-51A1-63AE-3FAE-DA368E59ED55}"/>
              </a:ext>
            </a:extLst>
          </p:cNvPr>
          <p:cNvSpPr txBox="1">
            <a:spLocks/>
          </p:cNvSpPr>
          <p:nvPr/>
        </p:nvSpPr>
        <p:spPr>
          <a:xfrm>
            <a:off x="8622168" y="2859910"/>
            <a:ext cx="2505029" cy="1138181"/>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solidFill>
                  <a:srgbClr val="FF0000"/>
                </a:solidFill>
              </a:rPr>
              <a:t>	EXPRESSION</a:t>
            </a:r>
          </a:p>
          <a:p>
            <a:pPr algn="just"/>
            <a:r>
              <a:rPr lang="en-US" sz="2133">
                <a:solidFill>
                  <a:srgbClr val="FF0000"/>
                </a:solidFill>
              </a:rPr>
              <a:t>	WAJIB DIPERIKSA</a:t>
            </a:r>
            <a:endParaRPr lang="en-US" sz="2133" b="1">
              <a:solidFill>
                <a:srgbClr val="FF0000"/>
              </a:solidFill>
            </a:endParaRPr>
          </a:p>
        </p:txBody>
      </p:sp>
    </p:spTree>
    <p:extLst>
      <p:ext uri="{BB962C8B-B14F-4D97-AF65-F5344CB8AC3E}">
        <p14:creationId xmlns:p14="http://schemas.microsoft.com/office/powerpoint/2010/main" val="1598813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FB7736-CB69-83F5-B563-3CC33ED3188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E613D0-AE2E-C889-DDEC-B2B1D77759E5}"/>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D178BA6E-2371-243A-22FE-6CD4D5EAB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9873636F-D89B-D990-B209-BCA037A5E822}"/>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14F631E5-6150-E86B-5FFB-DF3FA379F868}"/>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DD27517B-6292-A42C-0E40-75F7F393105A}"/>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For Loop Statement (Task 5)</a:t>
            </a:r>
          </a:p>
        </p:txBody>
      </p:sp>
      <p:sp>
        <p:nvSpPr>
          <p:cNvPr id="7" name="Oval 6">
            <a:extLst>
              <a:ext uri="{FF2B5EF4-FFF2-40B4-BE49-F238E27FC236}">
                <a16:creationId xmlns:a16="http://schemas.microsoft.com/office/drawing/2014/main" id="{19998237-594C-A9B6-3D87-51C9DFB21DD2}"/>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12</a:t>
            </a:fld>
            <a:endParaRPr lang="en-ID" sz="1200" b="1">
              <a:solidFill>
                <a:schemeClr val="tx1"/>
              </a:solidFill>
            </a:endParaRPr>
          </a:p>
        </p:txBody>
      </p:sp>
      <p:sp>
        <p:nvSpPr>
          <p:cNvPr id="3" name="Google Shape;405;p39">
            <a:extLst>
              <a:ext uri="{FF2B5EF4-FFF2-40B4-BE49-F238E27FC236}">
                <a16:creationId xmlns:a16="http://schemas.microsoft.com/office/drawing/2014/main" id="{76D0E4A0-165E-2FD9-5DA2-535932B653DD}"/>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EB418A89-8913-C8A8-EC58-A97C7505913D}"/>
              </a:ext>
            </a:extLst>
          </p:cNvPr>
          <p:cNvSpPr txBox="1">
            <a:spLocks/>
          </p:cNvSpPr>
          <p:nvPr/>
        </p:nvSpPr>
        <p:spPr>
          <a:xfrm>
            <a:off x="55415" y="919014"/>
            <a:ext cx="12011673" cy="101095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latin typeface="Quicksand"/>
              </a:rPr>
              <a:t>Tampillkan nilai dari kelipatan 8.</a:t>
            </a:r>
          </a:p>
        </p:txBody>
      </p:sp>
      <p:pic>
        <p:nvPicPr>
          <p:cNvPr id="11" name="Picture 10">
            <a:extLst>
              <a:ext uri="{FF2B5EF4-FFF2-40B4-BE49-F238E27FC236}">
                <a16:creationId xmlns:a16="http://schemas.microsoft.com/office/drawing/2014/main" id="{622B6DEF-803B-CD07-BC49-8425C10E6F4E}"/>
              </a:ext>
            </a:extLst>
          </p:cNvPr>
          <p:cNvPicPr>
            <a:picLocks noChangeAspect="1"/>
          </p:cNvPicPr>
          <p:nvPr/>
        </p:nvPicPr>
        <p:blipFill>
          <a:blip r:embed="rId4"/>
          <a:stretch>
            <a:fillRect/>
          </a:stretch>
        </p:blipFill>
        <p:spPr>
          <a:xfrm>
            <a:off x="156993" y="2192243"/>
            <a:ext cx="8529993" cy="2108295"/>
          </a:xfrm>
          <a:prstGeom prst="rect">
            <a:avLst/>
          </a:prstGeom>
          <a:ln>
            <a:solidFill>
              <a:schemeClr val="accent1"/>
            </a:solidFill>
          </a:ln>
        </p:spPr>
      </p:pic>
      <p:pic>
        <p:nvPicPr>
          <p:cNvPr id="13" name="Picture 12">
            <a:extLst>
              <a:ext uri="{FF2B5EF4-FFF2-40B4-BE49-F238E27FC236}">
                <a16:creationId xmlns:a16="http://schemas.microsoft.com/office/drawing/2014/main" id="{0CD83474-66B9-ECB3-D0BB-CAB87677A3AA}"/>
              </a:ext>
            </a:extLst>
          </p:cNvPr>
          <p:cNvPicPr>
            <a:picLocks noChangeAspect="1"/>
          </p:cNvPicPr>
          <p:nvPr/>
        </p:nvPicPr>
        <p:blipFill>
          <a:blip r:embed="rId5"/>
          <a:stretch>
            <a:fillRect/>
          </a:stretch>
        </p:blipFill>
        <p:spPr>
          <a:xfrm>
            <a:off x="4582123" y="3894549"/>
            <a:ext cx="3261307" cy="2552328"/>
          </a:xfrm>
          <a:prstGeom prst="rect">
            <a:avLst/>
          </a:prstGeom>
        </p:spPr>
      </p:pic>
    </p:spTree>
    <p:extLst>
      <p:ext uri="{BB962C8B-B14F-4D97-AF65-F5344CB8AC3E}">
        <p14:creationId xmlns:p14="http://schemas.microsoft.com/office/powerpoint/2010/main" val="2115183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EBDA99-5814-D0BD-A1CD-53831D65FF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E2B5D5-ECF6-4138-D9E8-8B09344725E1}"/>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C43FA9A0-5BD7-5CFC-E25F-7AAF5CDAD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C4F29F7D-56AF-5E9C-57E4-6A39BDDE8C19}"/>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BFED37A0-3947-06EA-B3CF-02B8895C104D}"/>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7A31407E-D91D-A561-3E4C-6DE87C362237}"/>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While Loop Statement (Task 6)</a:t>
            </a:r>
          </a:p>
        </p:txBody>
      </p:sp>
      <p:sp>
        <p:nvSpPr>
          <p:cNvPr id="7" name="Oval 6">
            <a:extLst>
              <a:ext uri="{FF2B5EF4-FFF2-40B4-BE49-F238E27FC236}">
                <a16:creationId xmlns:a16="http://schemas.microsoft.com/office/drawing/2014/main" id="{9656A228-936A-AC4B-29CE-CC82A5B730B1}"/>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13</a:t>
            </a:fld>
            <a:endParaRPr lang="en-ID" sz="1200" b="1">
              <a:solidFill>
                <a:schemeClr val="tx1"/>
              </a:solidFill>
            </a:endParaRPr>
          </a:p>
        </p:txBody>
      </p:sp>
      <p:sp>
        <p:nvSpPr>
          <p:cNvPr id="3" name="Google Shape;405;p39">
            <a:extLst>
              <a:ext uri="{FF2B5EF4-FFF2-40B4-BE49-F238E27FC236}">
                <a16:creationId xmlns:a16="http://schemas.microsoft.com/office/drawing/2014/main" id="{00122E4F-0DCD-5186-744B-65E79A998EA4}"/>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FEEA6490-9B78-8071-2A5B-1F1C36D25FE4}"/>
              </a:ext>
            </a:extLst>
          </p:cNvPr>
          <p:cNvSpPr txBox="1">
            <a:spLocks/>
          </p:cNvSpPr>
          <p:nvPr/>
        </p:nvSpPr>
        <p:spPr>
          <a:xfrm>
            <a:off x="55416" y="919014"/>
            <a:ext cx="5131182" cy="101095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latin typeface="Quicksand"/>
              </a:rPr>
              <a:t>Tampillkan nilai yang ingin dicari</a:t>
            </a:r>
          </a:p>
        </p:txBody>
      </p:sp>
      <p:pic>
        <p:nvPicPr>
          <p:cNvPr id="8" name="Picture 7">
            <a:extLst>
              <a:ext uri="{FF2B5EF4-FFF2-40B4-BE49-F238E27FC236}">
                <a16:creationId xmlns:a16="http://schemas.microsoft.com/office/drawing/2014/main" id="{94EBD936-0E3C-23FE-56AB-E3B767C479BD}"/>
              </a:ext>
            </a:extLst>
          </p:cNvPr>
          <p:cNvPicPr>
            <a:picLocks noChangeAspect="1"/>
          </p:cNvPicPr>
          <p:nvPr/>
        </p:nvPicPr>
        <p:blipFill>
          <a:blip r:embed="rId4"/>
          <a:stretch>
            <a:fillRect/>
          </a:stretch>
        </p:blipFill>
        <p:spPr>
          <a:xfrm>
            <a:off x="360218" y="1985387"/>
            <a:ext cx="6410325" cy="3838575"/>
          </a:xfrm>
          <a:prstGeom prst="rect">
            <a:avLst/>
          </a:prstGeom>
          <a:ln>
            <a:solidFill>
              <a:schemeClr val="accent1"/>
            </a:solidFill>
          </a:ln>
        </p:spPr>
      </p:pic>
      <p:pic>
        <p:nvPicPr>
          <p:cNvPr id="11" name="Picture 10">
            <a:extLst>
              <a:ext uri="{FF2B5EF4-FFF2-40B4-BE49-F238E27FC236}">
                <a16:creationId xmlns:a16="http://schemas.microsoft.com/office/drawing/2014/main" id="{FA71E687-423E-1502-5B39-99C145E2A424}"/>
              </a:ext>
            </a:extLst>
          </p:cNvPr>
          <p:cNvPicPr>
            <a:picLocks noChangeAspect="1"/>
          </p:cNvPicPr>
          <p:nvPr/>
        </p:nvPicPr>
        <p:blipFill>
          <a:blip r:embed="rId5"/>
          <a:stretch>
            <a:fillRect/>
          </a:stretch>
        </p:blipFill>
        <p:spPr>
          <a:xfrm>
            <a:off x="6872143" y="2321562"/>
            <a:ext cx="4295775" cy="2486025"/>
          </a:xfrm>
          <a:prstGeom prst="rect">
            <a:avLst/>
          </a:prstGeom>
        </p:spPr>
      </p:pic>
    </p:spTree>
    <p:extLst>
      <p:ext uri="{BB962C8B-B14F-4D97-AF65-F5344CB8AC3E}">
        <p14:creationId xmlns:p14="http://schemas.microsoft.com/office/powerpoint/2010/main" val="33393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1C0BDF-F11C-5167-77B3-4DD6C40D61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D733BC-506E-BF5D-F415-0241AD1417AF}"/>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pic>
        <p:nvPicPr>
          <p:cNvPr id="5" name="Picture 2">
            <a:extLst>
              <a:ext uri="{FF2B5EF4-FFF2-40B4-BE49-F238E27FC236}">
                <a16:creationId xmlns:a16="http://schemas.microsoft.com/office/drawing/2014/main" id="{5B50954A-BEA6-28DC-4DC4-E36B5457A0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E1BB4588-8CB9-AC76-AA2E-BB5B1C9D077B}"/>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28C2E977-ED7B-E7A4-5121-0B61668AA7C8}"/>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bg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CE793818-61C8-C92C-B80B-3CAFB34F52C6}"/>
              </a:ext>
            </a:extLst>
          </p:cNvPr>
          <p:cNvSpPr txBox="1">
            <a:spLocks/>
          </p:cNvSpPr>
          <p:nvPr/>
        </p:nvSpPr>
        <p:spPr>
          <a:xfrm>
            <a:off x="838200" y="1094581"/>
            <a:ext cx="8529807" cy="86359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4800" b="1" kern="0">
                <a:solidFill>
                  <a:schemeClr val="bg1"/>
                </a:solidFill>
              </a:rPr>
              <a:t>FOR VS WHILE</a:t>
            </a:r>
          </a:p>
        </p:txBody>
      </p:sp>
      <p:sp>
        <p:nvSpPr>
          <p:cNvPr id="7" name="Oval 6">
            <a:extLst>
              <a:ext uri="{FF2B5EF4-FFF2-40B4-BE49-F238E27FC236}">
                <a16:creationId xmlns:a16="http://schemas.microsoft.com/office/drawing/2014/main" id="{8896EFA7-229E-1907-6D3C-D8C502861ADF}"/>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bg1"/>
                </a:solidFill>
              </a:rPr>
              <a:t>14</a:t>
            </a:fld>
            <a:endParaRPr lang="en-ID" sz="1200" b="1">
              <a:solidFill>
                <a:schemeClr val="bg1"/>
              </a:solidFill>
            </a:endParaRPr>
          </a:p>
        </p:txBody>
      </p:sp>
      <p:sp>
        <p:nvSpPr>
          <p:cNvPr id="3" name="Google Shape;405;p39">
            <a:extLst>
              <a:ext uri="{FF2B5EF4-FFF2-40B4-BE49-F238E27FC236}">
                <a16:creationId xmlns:a16="http://schemas.microsoft.com/office/drawing/2014/main" id="{6A77C240-4453-99A7-0FBE-83291AAD1A85}"/>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chemeClr val="bg1"/>
                </a:solidFill>
                <a:effectLst/>
                <a:uLnTx/>
                <a:uFillTx/>
                <a:latin typeface="Quicksand"/>
                <a:sym typeface="Quicksand"/>
              </a:rPr>
              <a:t>Pert. 4 – Perulangan For dan While</a:t>
            </a:r>
          </a:p>
        </p:txBody>
      </p:sp>
      <p:graphicFrame>
        <p:nvGraphicFramePr>
          <p:cNvPr id="2" name="Table 1">
            <a:extLst>
              <a:ext uri="{FF2B5EF4-FFF2-40B4-BE49-F238E27FC236}">
                <a16:creationId xmlns:a16="http://schemas.microsoft.com/office/drawing/2014/main" id="{C7B949CD-8BF2-1773-2482-0600064C35E7}"/>
              </a:ext>
            </a:extLst>
          </p:cNvPr>
          <p:cNvGraphicFramePr>
            <a:graphicFrameLocks noGrp="1"/>
          </p:cNvGraphicFramePr>
          <p:nvPr>
            <p:extLst>
              <p:ext uri="{D42A27DB-BD31-4B8C-83A1-F6EECF244321}">
                <p14:modId xmlns:p14="http://schemas.microsoft.com/office/powerpoint/2010/main" val="179856450"/>
              </p:ext>
            </p:extLst>
          </p:nvPr>
        </p:nvGraphicFramePr>
        <p:xfrm>
          <a:off x="838200" y="2239169"/>
          <a:ext cx="10606088" cy="3303080"/>
        </p:xfrm>
        <a:graphic>
          <a:graphicData uri="http://schemas.openxmlformats.org/drawingml/2006/table">
            <a:tbl>
              <a:tblPr/>
              <a:tblGrid>
                <a:gridCol w="2233613">
                  <a:extLst>
                    <a:ext uri="{9D8B030D-6E8A-4147-A177-3AD203B41FA5}">
                      <a16:colId xmlns:a16="http://schemas.microsoft.com/office/drawing/2014/main" val="1607072011"/>
                    </a:ext>
                  </a:extLst>
                </a:gridCol>
                <a:gridCol w="4171950">
                  <a:extLst>
                    <a:ext uri="{9D8B030D-6E8A-4147-A177-3AD203B41FA5}">
                      <a16:colId xmlns:a16="http://schemas.microsoft.com/office/drawing/2014/main" val="3487435699"/>
                    </a:ext>
                  </a:extLst>
                </a:gridCol>
                <a:gridCol w="4200525">
                  <a:extLst>
                    <a:ext uri="{9D8B030D-6E8A-4147-A177-3AD203B41FA5}">
                      <a16:colId xmlns:a16="http://schemas.microsoft.com/office/drawing/2014/main" val="416702788"/>
                    </a:ext>
                  </a:extLst>
                </a:gridCol>
              </a:tblGrid>
              <a:tr h="0">
                <a:tc>
                  <a:txBody>
                    <a:bodyPr/>
                    <a:lstStyle/>
                    <a:p>
                      <a:pPr algn="ctr">
                        <a:lnSpc>
                          <a:spcPts val="1875"/>
                        </a:lnSpc>
                        <a:buNone/>
                      </a:pPr>
                      <a:r>
                        <a:rPr lang="en-ID" sz="2400" b="1">
                          <a:solidFill>
                            <a:schemeClr val="bg1"/>
                          </a:solidFill>
                          <a:effectLst/>
                          <a:latin typeface="quote-cjk-patch"/>
                        </a:rPr>
                        <a:t>Aspek</a:t>
                      </a:r>
                    </a:p>
                  </a:txBody>
                  <a:tcPr marR="121920" marT="76200" marB="76200" anchor="ctr">
                    <a:lnL>
                      <a:noFill/>
                    </a:lnL>
                    <a:lnR>
                      <a:noFill/>
                    </a:lnR>
                    <a:lnT>
                      <a:noFill/>
                    </a:lnT>
                    <a:lnB>
                      <a:noFill/>
                    </a:lnB>
                    <a:solidFill>
                      <a:srgbClr val="C00000"/>
                    </a:solidFill>
                  </a:tcPr>
                </a:tc>
                <a:tc>
                  <a:txBody>
                    <a:bodyPr/>
                    <a:lstStyle/>
                    <a:p>
                      <a:pPr algn="ctr">
                        <a:lnSpc>
                          <a:spcPts val="1650"/>
                        </a:lnSpc>
                        <a:buNone/>
                      </a:pPr>
                      <a:r>
                        <a:rPr lang="en-ID" sz="2400" b="1">
                          <a:solidFill>
                            <a:schemeClr val="bg1"/>
                          </a:solidFill>
                          <a:effectLst/>
                          <a:latin typeface="quote-cjk-patch"/>
                        </a:rPr>
                        <a:t>Perulangan </a:t>
                      </a:r>
                      <a:r>
                        <a:rPr lang="en-ID" sz="2400" b="1">
                          <a:solidFill>
                            <a:schemeClr val="bg1"/>
                          </a:solidFill>
                          <a:effectLst/>
                          <a:latin typeface="Menlo"/>
                        </a:rPr>
                        <a:t>for</a:t>
                      </a:r>
                      <a:endParaRPr lang="en-ID" sz="2400" b="1">
                        <a:solidFill>
                          <a:schemeClr val="bg1"/>
                        </a:solidFill>
                        <a:effectLst/>
                        <a:latin typeface="quote-cjk-patch"/>
                      </a:endParaRPr>
                    </a:p>
                  </a:txBody>
                  <a:tcPr marL="121920" marR="121920" marT="76200" marB="76200" anchor="ctr">
                    <a:lnL>
                      <a:noFill/>
                    </a:lnL>
                    <a:lnR>
                      <a:noFill/>
                    </a:lnR>
                    <a:lnT>
                      <a:noFill/>
                    </a:lnT>
                    <a:lnB>
                      <a:noFill/>
                    </a:lnB>
                    <a:solidFill>
                      <a:srgbClr val="C00000"/>
                    </a:solidFill>
                  </a:tcPr>
                </a:tc>
                <a:tc>
                  <a:txBody>
                    <a:bodyPr/>
                    <a:lstStyle/>
                    <a:p>
                      <a:pPr algn="ctr">
                        <a:lnSpc>
                          <a:spcPts val="1650"/>
                        </a:lnSpc>
                        <a:buNone/>
                      </a:pPr>
                      <a:r>
                        <a:rPr lang="en-ID" sz="2400" b="1">
                          <a:solidFill>
                            <a:schemeClr val="bg1"/>
                          </a:solidFill>
                          <a:effectLst/>
                          <a:latin typeface="quote-cjk-patch"/>
                        </a:rPr>
                        <a:t>Perulangan </a:t>
                      </a:r>
                      <a:r>
                        <a:rPr lang="en-ID" sz="2400" b="1">
                          <a:solidFill>
                            <a:schemeClr val="bg1"/>
                          </a:solidFill>
                          <a:effectLst/>
                          <a:latin typeface="Menlo"/>
                        </a:rPr>
                        <a:t>while</a:t>
                      </a:r>
                      <a:endParaRPr lang="en-ID" sz="2400" b="1">
                        <a:solidFill>
                          <a:schemeClr val="bg1"/>
                        </a:solidFill>
                        <a:effectLst/>
                        <a:latin typeface="quote-cjk-patch"/>
                      </a:endParaRPr>
                    </a:p>
                  </a:txBody>
                  <a:tcPr marL="121920" marR="121920" marT="76200" marB="76200" anchor="ctr">
                    <a:lnL>
                      <a:noFill/>
                    </a:lnL>
                    <a:lnR>
                      <a:noFill/>
                    </a:lnR>
                    <a:lnT>
                      <a:noFill/>
                    </a:lnT>
                    <a:lnB>
                      <a:noFill/>
                    </a:lnB>
                    <a:solidFill>
                      <a:srgbClr val="C00000"/>
                    </a:solidFill>
                  </a:tcPr>
                </a:tc>
                <a:extLst>
                  <a:ext uri="{0D108BD9-81ED-4DB2-BD59-A6C34878D82A}">
                    <a16:rowId xmlns:a16="http://schemas.microsoft.com/office/drawing/2014/main" val="2857012504"/>
                  </a:ext>
                </a:extLst>
              </a:tr>
              <a:tr h="0">
                <a:tc>
                  <a:txBody>
                    <a:bodyPr/>
                    <a:lstStyle/>
                    <a:p>
                      <a:pPr>
                        <a:lnSpc>
                          <a:spcPts val="1875"/>
                        </a:lnSpc>
                        <a:buNone/>
                      </a:pPr>
                      <a:r>
                        <a:rPr lang="en-ID" b="1">
                          <a:effectLst/>
                          <a:latin typeface="quote-cjk-patch"/>
                        </a:rPr>
                        <a:t>Dasar Pengulangan</a:t>
                      </a:r>
                      <a:endParaRPr lang="en-ID"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ID" b="1">
                          <a:effectLst/>
                          <a:latin typeface="quote-cjk-patch"/>
                        </a:rPr>
                        <a:t>Pencacah (Counter)</a:t>
                      </a:r>
                      <a:endParaRPr lang="en-ID" b="0">
                        <a:effectLst/>
                        <a:latin typeface="quote-cjk-patch"/>
                      </a:endParaRP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ID" b="1">
                          <a:effectLst/>
                          <a:latin typeface="quote-cjk-patch"/>
                        </a:rPr>
                        <a:t>Kondisi (Condition)</a:t>
                      </a:r>
                      <a:endParaRPr lang="en-ID" b="0">
                        <a:effectLst/>
                        <a:latin typeface="quote-cjk-patch"/>
                      </a:endParaRP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1351768005"/>
                  </a:ext>
                </a:extLst>
              </a:tr>
              <a:tr h="0">
                <a:tc>
                  <a:txBody>
                    <a:bodyPr/>
                    <a:lstStyle/>
                    <a:p>
                      <a:pPr>
                        <a:lnSpc>
                          <a:spcPts val="1875"/>
                        </a:lnSpc>
                        <a:buNone/>
                      </a:pPr>
                      <a:r>
                        <a:rPr lang="en-ID" b="1">
                          <a:effectLst/>
                          <a:latin typeface="quote-cjk-patch"/>
                        </a:rPr>
                        <a:t>Pengetahuan Iterasi</a:t>
                      </a:r>
                      <a:endParaRPr lang="en-ID"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ID" b="0">
                          <a:effectLst/>
                          <a:latin typeface="quote-cjk-patch"/>
                        </a:rPr>
                        <a:t>Jumlah iterasi </a:t>
                      </a:r>
                      <a:r>
                        <a:rPr lang="en-ID" b="1">
                          <a:effectLst/>
                          <a:latin typeface="quote-cjk-patch"/>
                        </a:rPr>
                        <a:t>diketahui/dapat diprediksi</a:t>
                      </a:r>
                      <a:r>
                        <a:rPr lang="en-ID" b="0">
                          <a:effectLst/>
                          <a:latin typeface="quote-cjk-patch"/>
                        </a:rPr>
                        <a:t> sebelumnya.</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sv-SE" b="0">
                          <a:effectLst/>
                          <a:latin typeface="quote-cjk-patch"/>
                        </a:rPr>
                        <a:t>Jumlah iterasi </a:t>
                      </a:r>
                      <a:r>
                        <a:rPr lang="sv-SE" b="1">
                          <a:effectLst/>
                          <a:latin typeface="quote-cjk-patch"/>
                        </a:rPr>
                        <a:t>tidak diketahui</a:t>
                      </a:r>
                      <a:r>
                        <a:rPr lang="sv-SE" b="0">
                          <a:effectLst/>
                          <a:latin typeface="quote-cjk-patch"/>
                        </a:rPr>
                        <a:t>, bergantung pada pemenuhinya suatu kondisi.</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3868752016"/>
                  </a:ext>
                </a:extLst>
              </a:tr>
              <a:tr h="0">
                <a:tc>
                  <a:txBody>
                    <a:bodyPr/>
                    <a:lstStyle/>
                    <a:p>
                      <a:pPr>
                        <a:lnSpc>
                          <a:spcPts val="1875"/>
                        </a:lnSpc>
                        <a:buNone/>
                      </a:pPr>
                      <a:r>
                        <a:rPr lang="en-ID" b="1">
                          <a:effectLst/>
                          <a:latin typeface="quote-cjk-patch"/>
                        </a:rPr>
                        <a:t>Inisialisasi Variabel</a:t>
                      </a:r>
                      <a:endParaRPr lang="en-ID"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650"/>
                        </a:lnSpc>
                        <a:buNone/>
                      </a:pPr>
                      <a:r>
                        <a:rPr lang="en-ID" b="0">
                          <a:effectLst/>
                          <a:latin typeface="quote-cjk-patch"/>
                        </a:rPr>
                        <a:t>Dilakukan otomatis dalam sintaks</a:t>
                      </a:r>
                    </a:p>
                    <a:p>
                      <a:pPr>
                        <a:lnSpc>
                          <a:spcPts val="1650"/>
                        </a:lnSpc>
                        <a:buNone/>
                      </a:pPr>
                      <a:r>
                        <a:rPr lang="en-ID" b="0">
                          <a:effectLst/>
                          <a:latin typeface="quote-cjk-patch"/>
                        </a:rPr>
                        <a:t>(</a:t>
                      </a:r>
                      <a:r>
                        <a:rPr lang="en-ID" b="0">
                          <a:effectLst/>
                          <a:latin typeface="Menlo"/>
                        </a:rPr>
                        <a:t>i = 1:N</a:t>
                      </a:r>
                      <a:r>
                        <a:rPr lang="en-ID" b="0">
                          <a:effectLst/>
                          <a:latin typeface="quote-cjk-patch"/>
                        </a:rPr>
                        <a:t>).</a:t>
                      </a:r>
                    </a:p>
                  </a:txBody>
                  <a:tcPr marL="121920" marR="121920" marT="76200" marB="76200" anchor="ctr">
                    <a:lnL>
                      <a:noFill/>
                    </a:lnL>
                    <a:lnR>
                      <a:noFill/>
                    </a:lnR>
                    <a:lnT>
                      <a:noFill/>
                    </a:lnT>
                    <a:lnB>
                      <a:noFill/>
                    </a:lnB>
                    <a:solidFill>
                      <a:srgbClr val="FFFFFF"/>
                    </a:solidFill>
                  </a:tcPr>
                </a:tc>
                <a:tc>
                  <a:txBody>
                    <a:bodyPr/>
                    <a:lstStyle/>
                    <a:p>
                      <a:pPr>
                        <a:lnSpc>
                          <a:spcPts val="1650"/>
                        </a:lnSpc>
                        <a:buNone/>
                      </a:pPr>
                      <a:r>
                        <a:rPr lang="en-ID" b="1">
                          <a:effectLst/>
                          <a:latin typeface="quote-cjk-patch"/>
                        </a:rPr>
                        <a:t>Harus dilakukan manual</a:t>
                      </a:r>
                      <a:r>
                        <a:rPr lang="en-ID" b="0">
                          <a:effectLst/>
                          <a:latin typeface="quote-cjk-patch"/>
                        </a:rPr>
                        <a:t> sebelum kata kunci </a:t>
                      </a:r>
                      <a:r>
                        <a:rPr lang="en-ID" b="0">
                          <a:effectLst/>
                          <a:latin typeface="Menlo"/>
                        </a:rPr>
                        <a:t>while</a:t>
                      </a:r>
                      <a:r>
                        <a:rPr lang="en-ID" b="0">
                          <a:effectLst/>
                          <a:latin typeface="quote-cjk-patch"/>
                        </a:rPr>
                        <a:t>.</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1627856307"/>
                  </a:ext>
                </a:extLst>
              </a:tr>
              <a:tr h="0">
                <a:tc>
                  <a:txBody>
                    <a:bodyPr/>
                    <a:lstStyle/>
                    <a:p>
                      <a:pPr>
                        <a:lnSpc>
                          <a:spcPts val="1875"/>
                        </a:lnSpc>
                        <a:buNone/>
                      </a:pPr>
                      <a:r>
                        <a:rPr lang="en-ID" b="1">
                          <a:effectLst/>
                          <a:latin typeface="quote-cjk-patch"/>
                        </a:rPr>
                        <a:t>Update Variabel</a:t>
                      </a:r>
                      <a:endParaRPr lang="en-ID"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nn-NO" b="0">
                          <a:effectLst/>
                          <a:latin typeface="quote-cjk-patch"/>
                        </a:rPr>
                        <a:t>Dilakukan otomatis di akhir setiap iterasi.</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ID" b="1">
                          <a:effectLst/>
                          <a:latin typeface="quote-cjk-patch"/>
                        </a:rPr>
                        <a:t>Harus dilakukan manual</a:t>
                      </a:r>
                      <a:r>
                        <a:rPr lang="en-ID" b="0">
                          <a:effectLst/>
                          <a:latin typeface="quote-cjk-patch"/>
                        </a:rPr>
                        <a:t> di dalam blok perulangan.</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2519269891"/>
                  </a:ext>
                </a:extLst>
              </a:tr>
              <a:tr h="0">
                <a:tc>
                  <a:txBody>
                    <a:bodyPr/>
                    <a:lstStyle/>
                    <a:p>
                      <a:pPr>
                        <a:lnSpc>
                          <a:spcPts val="1875"/>
                        </a:lnSpc>
                        <a:buNone/>
                      </a:pPr>
                      <a:r>
                        <a:rPr lang="en-ID" b="1">
                          <a:effectLst/>
                          <a:latin typeface="quote-cjk-patch"/>
                        </a:rPr>
                        <a:t>Risiko Utama</a:t>
                      </a:r>
                      <a:endParaRPr lang="en-ID"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ID" b="0">
                          <a:effectLst/>
                          <a:latin typeface="quote-cjk-patch"/>
                        </a:rPr>
                        <a:t>Kesalahan dalam mendefinisikan rentang nilai.</a:t>
                      </a:r>
                    </a:p>
                  </a:txBody>
                  <a:tcPr marL="121920" marR="121920" marT="76200" marB="76200" anchor="ctr">
                    <a:lnL>
                      <a:noFill/>
                    </a:lnL>
                    <a:lnR>
                      <a:noFill/>
                    </a:lnR>
                    <a:lnT>
                      <a:noFill/>
                    </a:lnT>
                    <a:lnB>
                      <a:noFill/>
                    </a:lnB>
                    <a:solidFill>
                      <a:srgbClr val="FFFFFF"/>
                    </a:solidFill>
                  </a:tcPr>
                </a:tc>
                <a:tc>
                  <a:txBody>
                    <a:bodyPr/>
                    <a:lstStyle/>
                    <a:p>
                      <a:pPr>
                        <a:lnSpc>
                          <a:spcPts val="1650"/>
                        </a:lnSpc>
                        <a:buNone/>
                      </a:pPr>
                      <a:r>
                        <a:rPr lang="sv-SE" b="1">
                          <a:effectLst/>
                          <a:latin typeface="quote-cjk-patch"/>
                        </a:rPr>
                        <a:t>Infinite Loop</a:t>
                      </a:r>
                      <a:r>
                        <a:rPr lang="sv-SE" b="0">
                          <a:effectLst/>
                          <a:latin typeface="quote-cjk-patch"/>
                        </a:rPr>
                        <a:t> jika kondisi tidak pernah menjadi </a:t>
                      </a:r>
                      <a:r>
                        <a:rPr lang="sv-SE" b="0">
                          <a:effectLst/>
                          <a:latin typeface="Menlo"/>
                        </a:rPr>
                        <a:t>false</a:t>
                      </a:r>
                      <a:r>
                        <a:rPr lang="sv-SE" b="0">
                          <a:effectLst/>
                          <a:latin typeface="quote-cjk-patch"/>
                        </a:rPr>
                        <a:t>.</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2653264172"/>
                  </a:ext>
                </a:extLst>
              </a:tr>
            </a:tbl>
          </a:graphicData>
        </a:graphic>
      </p:graphicFrame>
    </p:spTree>
    <p:extLst>
      <p:ext uri="{BB962C8B-B14F-4D97-AF65-F5344CB8AC3E}">
        <p14:creationId xmlns:p14="http://schemas.microsoft.com/office/powerpoint/2010/main" val="1877705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CF200DD-8A64-FC39-1AE3-863026F14A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D678674-E2E5-18B7-0954-29FCCBB6F1D7}"/>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endParaRPr>
          </a:p>
        </p:txBody>
      </p:sp>
      <p:pic>
        <p:nvPicPr>
          <p:cNvPr id="5" name="Picture 2">
            <a:extLst>
              <a:ext uri="{FF2B5EF4-FFF2-40B4-BE49-F238E27FC236}">
                <a16:creationId xmlns:a16="http://schemas.microsoft.com/office/drawing/2014/main" id="{A71DAA41-27AB-BCB8-9082-C8838BF71E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5C992BC6-B00D-6CA1-078A-88E6056F5946}"/>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BE2A2081-C812-53C0-131A-0A102D6B7A69}"/>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bg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04EAF52D-F546-B28B-8CC2-AA8C77064504}"/>
              </a:ext>
            </a:extLst>
          </p:cNvPr>
          <p:cNvSpPr txBox="1">
            <a:spLocks/>
          </p:cNvSpPr>
          <p:nvPr/>
        </p:nvSpPr>
        <p:spPr>
          <a:xfrm>
            <a:off x="928688" y="3186600"/>
            <a:ext cx="1090309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4800" b="1" kern="0">
                <a:solidFill>
                  <a:schemeClr val="bg1"/>
                </a:solidFill>
              </a:rPr>
              <a:t>NESTED LOOP STATEMENT</a:t>
            </a:r>
          </a:p>
        </p:txBody>
      </p:sp>
      <p:sp>
        <p:nvSpPr>
          <p:cNvPr id="7" name="Oval 6">
            <a:extLst>
              <a:ext uri="{FF2B5EF4-FFF2-40B4-BE49-F238E27FC236}">
                <a16:creationId xmlns:a16="http://schemas.microsoft.com/office/drawing/2014/main" id="{62C3F059-7081-594A-3246-1455B47E2DF0}"/>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bg1"/>
                </a:solidFill>
              </a:rPr>
              <a:t>15</a:t>
            </a:fld>
            <a:endParaRPr lang="en-ID" sz="1200" b="1">
              <a:solidFill>
                <a:schemeClr val="bg1"/>
              </a:solidFill>
            </a:endParaRPr>
          </a:p>
        </p:txBody>
      </p:sp>
      <p:sp>
        <p:nvSpPr>
          <p:cNvPr id="3" name="Google Shape;405;p39">
            <a:extLst>
              <a:ext uri="{FF2B5EF4-FFF2-40B4-BE49-F238E27FC236}">
                <a16:creationId xmlns:a16="http://schemas.microsoft.com/office/drawing/2014/main" id="{676808BA-0C99-11C2-6D4D-31A7F5C8270C}"/>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chemeClr val="bg1"/>
                </a:solidFill>
                <a:effectLst/>
                <a:uLnTx/>
                <a:uFillTx/>
                <a:latin typeface="Quicksand"/>
                <a:sym typeface="Quicksand"/>
              </a:rPr>
              <a:t>Pert. 4 – Perulangan For dan While</a:t>
            </a:r>
          </a:p>
        </p:txBody>
      </p:sp>
    </p:spTree>
    <p:extLst>
      <p:ext uri="{BB962C8B-B14F-4D97-AF65-F5344CB8AC3E}">
        <p14:creationId xmlns:p14="http://schemas.microsoft.com/office/powerpoint/2010/main" val="2457320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265D24-F5FB-35B4-15C8-AFF48785A4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4886F1-284F-0360-6DEE-94C92D34A590}"/>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E3BEA8BD-330E-48C2-93F8-333E9A16B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4BFAD19F-E8F1-431E-4810-3452F9F546AA}"/>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CC4FFA95-89ED-AFD0-10D5-2D2E65167BC3}"/>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E4DAA80F-F5C0-F789-C08C-C063050770DE}"/>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lang="en-US" sz="3200" b="1" kern="0">
                <a:solidFill>
                  <a:schemeClr val="tx1"/>
                </a:solidFill>
              </a:rPr>
              <a:t>Tipe Looping (Nested Loop)</a:t>
            </a:r>
            <a:endParaRPr kumimoji="0" lang="en-US" sz="3200" b="1" i="0" u="none" strike="noStrike" kern="0" cap="none" spc="0" normalizeH="0" baseline="0" noProof="0">
              <a:ln>
                <a:noFill/>
              </a:ln>
              <a:solidFill>
                <a:schemeClr val="tx1"/>
              </a:solidFill>
              <a:effectLst/>
              <a:uLnTx/>
              <a:uFillTx/>
              <a:sym typeface="Quicksand"/>
            </a:endParaRPr>
          </a:p>
        </p:txBody>
      </p:sp>
      <p:sp>
        <p:nvSpPr>
          <p:cNvPr id="7" name="Oval 6">
            <a:extLst>
              <a:ext uri="{FF2B5EF4-FFF2-40B4-BE49-F238E27FC236}">
                <a16:creationId xmlns:a16="http://schemas.microsoft.com/office/drawing/2014/main" id="{A45DDC78-D6D7-04E6-FD4B-71B6246140CA}"/>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16</a:t>
            </a:fld>
            <a:endParaRPr lang="en-ID" sz="1200" b="1">
              <a:solidFill>
                <a:schemeClr val="tx1"/>
              </a:solidFill>
            </a:endParaRPr>
          </a:p>
        </p:txBody>
      </p:sp>
      <p:sp>
        <p:nvSpPr>
          <p:cNvPr id="3" name="Google Shape;405;p39">
            <a:extLst>
              <a:ext uri="{FF2B5EF4-FFF2-40B4-BE49-F238E27FC236}">
                <a16:creationId xmlns:a16="http://schemas.microsoft.com/office/drawing/2014/main" id="{802D27B1-E932-6BD3-9F73-C28DFAC89E2A}"/>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4 – Perulangan For dan While</a:t>
            </a:r>
          </a:p>
        </p:txBody>
      </p:sp>
      <p:sp>
        <p:nvSpPr>
          <p:cNvPr id="6" name="Google Shape;6457;p40">
            <a:extLst>
              <a:ext uri="{FF2B5EF4-FFF2-40B4-BE49-F238E27FC236}">
                <a16:creationId xmlns:a16="http://schemas.microsoft.com/office/drawing/2014/main" id="{6DFCF10E-BFE5-801B-7976-9E2F8C76278D}"/>
              </a:ext>
            </a:extLst>
          </p:cNvPr>
          <p:cNvSpPr txBox="1">
            <a:spLocks/>
          </p:cNvSpPr>
          <p:nvPr/>
        </p:nvSpPr>
        <p:spPr>
          <a:xfrm>
            <a:off x="368300" y="1068100"/>
            <a:ext cx="11176000" cy="101095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latin typeface="Quicksand"/>
              </a:rPr>
              <a:t>Perulangan bersarang adalah situasi dimana sebuah perulangan berada di dalam perulangan lainnya. Perulangan di dalam disebut inner loop, dan perulangan di luar disebut outer loop.</a:t>
            </a:r>
          </a:p>
        </p:txBody>
      </p:sp>
      <p:sp>
        <p:nvSpPr>
          <p:cNvPr id="16" name="Google Shape;6457;p40">
            <a:extLst>
              <a:ext uri="{FF2B5EF4-FFF2-40B4-BE49-F238E27FC236}">
                <a16:creationId xmlns:a16="http://schemas.microsoft.com/office/drawing/2014/main" id="{FB1E04D8-ADE0-306F-97FA-3CB9DB588796}"/>
              </a:ext>
            </a:extLst>
          </p:cNvPr>
          <p:cNvSpPr txBox="1">
            <a:spLocks/>
          </p:cNvSpPr>
          <p:nvPr/>
        </p:nvSpPr>
        <p:spPr>
          <a:xfrm>
            <a:off x="571332" y="4477952"/>
            <a:ext cx="11176000" cy="1452585"/>
          </a:xfrm>
          <a:prstGeom prst="rect">
            <a:avLst/>
          </a:prstGeom>
          <a:solidFill>
            <a:srgbClr val="C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1800" b="1">
                <a:solidFill>
                  <a:schemeClr val="bg1"/>
                </a:solidFill>
                <a:latin typeface="Quicksand"/>
              </a:rPr>
              <a:t>Karakteristik:</a:t>
            </a:r>
          </a:p>
          <a:p>
            <a:pPr algn="just">
              <a:buFont typeface="Arial" panose="020B0604020202020204" pitchFamily="34" charset="0"/>
              <a:buChar char="•"/>
            </a:pPr>
            <a:r>
              <a:rPr lang="en-US" sz="1800" b="1">
                <a:solidFill>
                  <a:schemeClr val="bg1"/>
                </a:solidFill>
                <a:latin typeface="Quicksand"/>
              </a:rPr>
              <a:t>Inner loop akan diselesaikan sepenuhnya untuk setiap iterasi dari outer loop.</a:t>
            </a:r>
          </a:p>
          <a:p>
            <a:pPr algn="just">
              <a:buFont typeface="Arial" panose="020B0604020202020204" pitchFamily="34" charset="0"/>
              <a:buChar char="•"/>
            </a:pPr>
            <a:r>
              <a:rPr lang="en-US" sz="1800" b="1">
                <a:solidFill>
                  <a:schemeClr val="bg1"/>
                </a:solidFill>
                <a:latin typeface="Quicksand"/>
              </a:rPr>
              <a:t>Variabel pencacah inner loop dan outer loop harus berbeda (biasanya i, j, k).</a:t>
            </a:r>
          </a:p>
          <a:p>
            <a:pPr algn="just">
              <a:buFont typeface="Arial" panose="020B0604020202020204" pitchFamily="34" charset="0"/>
              <a:buChar char="•"/>
            </a:pPr>
            <a:r>
              <a:rPr lang="en-US" sz="1800" b="1">
                <a:solidFill>
                  <a:schemeClr val="bg1"/>
                </a:solidFill>
                <a:latin typeface="Quicksand"/>
              </a:rPr>
              <a:t>Sangat powerful untuk memproses data multi-dimensi seperti matriks atau membuat pola.</a:t>
            </a:r>
          </a:p>
        </p:txBody>
      </p:sp>
      <p:pic>
        <p:nvPicPr>
          <p:cNvPr id="10" name="Picture 9">
            <a:extLst>
              <a:ext uri="{FF2B5EF4-FFF2-40B4-BE49-F238E27FC236}">
                <a16:creationId xmlns:a16="http://schemas.microsoft.com/office/drawing/2014/main" id="{F1986B80-9805-2774-A832-998CFE4583E0}"/>
              </a:ext>
            </a:extLst>
          </p:cNvPr>
          <p:cNvPicPr>
            <a:picLocks noChangeAspect="1"/>
          </p:cNvPicPr>
          <p:nvPr/>
        </p:nvPicPr>
        <p:blipFill>
          <a:blip r:embed="rId4"/>
          <a:stretch>
            <a:fillRect/>
          </a:stretch>
        </p:blipFill>
        <p:spPr>
          <a:xfrm>
            <a:off x="1662737" y="2249180"/>
            <a:ext cx="6951077" cy="1893758"/>
          </a:xfrm>
          <a:prstGeom prst="rect">
            <a:avLst/>
          </a:prstGeom>
          <a:ln>
            <a:solidFill>
              <a:schemeClr val="accent1"/>
            </a:solidFill>
          </a:ln>
        </p:spPr>
      </p:pic>
    </p:spTree>
    <p:extLst>
      <p:ext uri="{BB962C8B-B14F-4D97-AF65-F5344CB8AC3E}">
        <p14:creationId xmlns:p14="http://schemas.microsoft.com/office/powerpoint/2010/main" val="1684665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2E9FB8-175B-866E-75E9-5835096F00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923B0A7-93B7-EB40-001A-34B8E12BB087}"/>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8DB9D0EF-EE31-9AA2-31DA-62290A8C0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A0584FD3-0625-605E-33F3-042A82C59255}"/>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48AB0AEC-9248-C86C-2AD2-3C30B71EE012}"/>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E8037909-9B57-D3C9-5BCD-B6EAFDE68CDC}"/>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Nested Loop Statement (Task 7)</a:t>
            </a:r>
          </a:p>
        </p:txBody>
      </p:sp>
      <p:sp>
        <p:nvSpPr>
          <p:cNvPr id="7" name="Oval 6">
            <a:extLst>
              <a:ext uri="{FF2B5EF4-FFF2-40B4-BE49-F238E27FC236}">
                <a16:creationId xmlns:a16="http://schemas.microsoft.com/office/drawing/2014/main" id="{58B81F2E-CD43-E2DE-765E-684657D95454}"/>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17</a:t>
            </a:fld>
            <a:endParaRPr lang="en-ID" sz="1200" b="1">
              <a:solidFill>
                <a:schemeClr val="tx1"/>
              </a:solidFill>
            </a:endParaRPr>
          </a:p>
        </p:txBody>
      </p:sp>
      <p:sp>
        <p:nvSpPr>
          <p:cNvPr id="3" name="Google Shape;405;p39">
            <a:extLst>
              <a:ext uri="{FF2B5EF4-FFF2-40B4-BE49-F238E27FC236}">
                <a16:creationId xmlns:a16="http://schemas.microsoft.com/office/drawing/2014/main" id="{D24C7C89-64BB-C710-34B0-0E51FF86971B}"/>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sp>
        <p:nvSpPr>
          <p:cNvPr id="6" name="Google Shape;6457;p40">
            <a:extLst>
              <a:ext uri="{FF2B5EF4-FFF2-40B4-BE49-F238E27FC236}">
                <a16:creationId xmlns:a16="http://schemas.microsoft.com/office/drawing/2014/main" id="{B5504E6E-AFF1-D34B-90CA-A05651A518E6}"/>
              </a:ext>
            </a:extLst>
          </p:cNvPr>
          <p:cNvSpPr txBox="1">
            <a:spLocks/>
          </p:cNvSpPr>
          <p:nvPr/>
        </p:nvSpPr>
        <p:spPr>
          <a:xfrm>
            <a:off x="55416" y="919014"/>
            <a:ext cx="6615208" cy="668475"/>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1pPr>
            <a:lvl2pPr marL="914400" marR="0" lvl="1"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2pPr>
            <a:lvl3pPr marL="1371600" marR="0" lvl="2"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3pPr>
            <a:lvl4pPr marL="1828800" marR="0" lvl="3"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4pPr>
            <a:lvl5pPr marL="2286000" marR="0" lvl="4"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5pPr>
            <a:lvl6pPr marL="2743200" marR="0" lvl="5"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6pPr>
            <a:lvl7pPr marL="3200400" marR="0" lvl="6"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7pPr>
            <a:lvl8pPr marL="3657600" marR="0" lvl="7"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8pPr>
            <a:lvl9pPr marL="4114800" marR="0" lvl="8" indent="-317500" algn="ctr" rtl="0">
              <a:lnSpc>
                <a:spcPct val="100000"/>
              </a:lnSpc>
              <a:spcBef>
                <a:spcPts val="0"/>
              </a:spcBef>
              <a:spcAft>
                <a:spcPts val="0"/>
              </a:spcAft>
              <a:buClr>
                <a:schemeClr val="dk1"/>
              </a:buClr>
              <a:buSzPts val="3000"/>
              <a:buFont typeface="Fira Sans Condensed"/>
              <a:buNone/>
              <a:defRPr sz="3000" b="0" i="0" u="none" strike="noStrike" cap="none">
                <a:solidFill>
                  <a:schemeClr val="dk1"/>
                </a:solidFill>
                <a:latin typeface="Fira Sans Condensed"/>
                <a:ea typeface="Fira Sans Condensed"/>
                <a:cs typeface="Fira Sans Condensed"/>
                <a:sym typeface="Fira Sans Condensed"/>
              </a:defRPr>
            </a:lvl9pPr>
          </a:lstStyle>
          <a:p>
            <a:pPr algn="just"/>
            <a:r>
              <a:rPr lang="en-US" sz="2133">
                <a:latin typeface="Quicksand"/>
              </a:rPr>
              <a:t>Menampilkan Pola Persegi</a:t>
            </a:r>
          </a:p>
        </p:txBody>
      </p:sp>
      <p:sp>
        <p:nvSpPr>
          <p:cNvPr id="18" name="TextBox 17">
            <a:extLst>
              <a:ext uri="{FF2B5EF4-FFF2-40B4-BE49-F238E27FC236}">
                <a16:creationId xmlns:a16="http://schemas.microsoft.com/office/drawing/2014/main" id="{583A106D-2EA0-9513-2AF3-A96E8957CC3B}"/>
              </a:ext>
            </a:extLst>
          </p:cNvPr>
          <p:cNvSpPr txBox="1"/>
          <p:nvPr/>
        </p:nvSpPr>
        <p:spPr>
          <a:xfrm>
            <a:off x="6670624" y="3827701"/>
            <a:ext cx="5351489" cy="2314736"/>
          </a:xfrm>
          <a:prstGeom prst="rect">
            <a:avLst/>
          </a:prstGeom>
          <a:noFill/>
        </p:spPr>
        <p:txBody>
          <a:bodyPr wrap="square">
            <a:spAutoFit/>
          </a:bodyPr>
          <a:lstStyle/>
          <a:p>
            <a:pPr algn="l">
              <a:spcBef>
                <a:spcPts val="1200"/>
              </a:spcBef>
              <a:spcAft>
                <a:spcPts val="600"/>
              </a:spcAft>
              <a:buNone/>
            </a:pPr>
            <a:r>
              <a:rPr lang="en-ID" b="0" i="1">
                <a:solidFill>
                  <a:srgbClr val="0F1115"/>
                </a:solidFill>
                <a:effectLst/>
                <a:latin typeface="quote-cjk-patch"/>
              </a:rPr>
              <a:t>Visualisasi:</a:t>
            </a:r>
          </a:p>
          <a:p>
            <a:pPr algn="l">
              <a:spcBef>
                <a:spcPts val="1200"/>
              </a:spcBef>
              <a:spcAft>
                <a:spcPts val="600"/>
              </a:spcAft>
              <a:buNone/>
            </a:pPr>
            <a:r>
              <a:rPr lang="en-ID" b="0" i="0">
                <a:solidFill>
                  <a:srgbClr val="0F1115"/>
                </a:solidFill>
                <a:effectLst/>
                <a:latin typeface="quote-cjk-patch"/>
              </a:rPr>
              <a:t>Iterasi 1 (i=1): inner loop j berjalan dari 1 sampai 4 -&gt; mencetak </a:t>
            </a:r>
            <a:r>
              <a:rPr lang="en-ID" b="0" i="0">
                <a:solidFill>
                  <a:srgbClr val="0F1115"/>
                </a:solidFill>
                <a:effectLst/>
                <a:latin typeface="Menlo"/>
              </a:rPr>
              <a:t>* * * *</a:t>
            </a:r>
            <a:endParaRPr lang="en-ID" b="0" i="0">
              <a:solidFill>
                <a:srgbClr val="0F1115"/>
              </a:solidFill>
              <a:effectLst/>
              <a:latin typeface="quote-cjk-patch"/>
            </a:endParaRPr>
          </a:p>
          <a:p>
            <a:pPr algn="l">
              <a:lnSpc>
                <a:spcPts val="1650"/>
              </a:lnSpc>
              <a:spcBef>
                <a:spcPts val="450"/>
              </a:spcBef>
              <a:spcAft>
                <a:spcPts val="600"/>
              </a:spcAft>
              <a:buFont typeface="Arial" panose="020B0604020202020204" pitchFamily="34" charset="0"/>
              <a:buChar char="•"/>
            </a:pPr>
            <a:r>
              <a:rPr lang="en-ID" b="0" i="0">
                <a:solidFill>
                  <a:srgbClr val="0F1115"/>
                </a:solidFill>
                <a:effectLst/>
                <a:latin typeface="quote-cjk-patch"/>
              </a:rPr>
              <a:t>Iterasi 2 (i=2): inner loop j berjalan dari 1 sampai 4 -&gt; mencetak </a:t>
            </a:r>
            <a:r>
              <a:rPr lang="en-ID" b="0" i="0">
                <a:solidFill>
                  <a:srgbClr val="0F1115"/>
                </a:solidFill>
                <a:effectLst/>
                <a:latin typeface="Menlo"/>
              </a:rPr>
              <a:t>* * * *</a:t>
            </a:r>
            <a:endParaRPr lang="en-ID" b="0" i="0">
              <a:solidFill>
                <a:srgbClr val="0F1115"/>
              </a:solidFill>
              <a:effectLst/>
              <a:latin typeface="quote-cjk-patch"/>
            </a:endParaRPr>
          </a:p>
          <a:p>
            <a:pPr algn="l">
              <a:lnSpc>
                <a:spcPts val="1650"/>
              </a:lnSpc>
              <a:spcBef>
                <a:spcPts val="450"/>
              </a:spcBef>
              <a:spcAft>
                <a:spcPts val="600"/>
              </a:spcAft>
              <a:buFont typeface="Arial" panose="020B0604020202020204" pitchFamily="34" charset="0"/>
              <a:buChar char="•"/>
            </a:pPr>
            <a:r>
              <a:rPr lang="en-ID" b="0" i="0">
                <a:solidFill>
                  <a:srgbClr val="0F1115"/>
                </a:solidFill>
                <a:effectLst/>
                <a:latin typeface="quote-cjk-patch"/>
              </a:rPr>
              <a:t>Iterasi 3 (i=3): inner loop j berjalan dari 1 sampai 4 -&gt; mencetak </a:t>
            </a:r>
            <a:r>
              <a:rPr lang="en-ID" b="0" i="0">
                <a:solidFill>
                  <a:srgbClr val="0F1115"/>
                </a:solidFill>
                <a:effectLst/>
                <a:latin typeface="Menlo"/>
              </a:rPr>
              <a:t>* * * *</a:t>
            </a:r>
            <a:endParaRPr lang="en-ID" b="0" i="0">
              <a:solidFill>
                <a:srgbClr val="0F1115"/>
              </a:solidFill>
              <a:effectLst/>
              <a:latin typeface="quote-cjk-patch"/>
            </a:endParaRPr>
          </a:p>
        </p:txBody>
      </p:sp>
      <p:pic>
        <p:nvPicPr>
          <p:cNvPr id="11" name="Picture 10">
            <a:extLst>
              <a:ext uri="{FF2B5EF4-FFF2-40B4-BE49-F238E27FC236}">
                <a16:creationId xmlns:a16="http://schemas.microsoft.com/office/drawing/2014/main" id="{7C6CAFFE-1D0F-59E7-6F32-23F8BE4070C5}"/>
              </a:ext>
            </a:extLst>
          </p:cNvPr>
          <p:cNvPicPr>
            <a:picLocks noChangeAspect="1"/>
          </p:cNvPicPr>
          <p:nvPr/>
        </p:nvPicPr>
        <p:blipFill>
          <a:blip r:embed="rId4"/>
          <a:stretch>
            <a:fillRect/>
          </a:stretch>
        </p:blipFill>
        <p:spPr>
          <a:xfrm>
            <a:off x="55416" y="1649739"/>
            <a:ext cx="6448425" cy="3190875"/>
          </a:xfrm>
          <a:prstGeom prst="rect">
            <a:avLst/>
          </a:prstGeom>
          <a:ln>
            <a:solidFill>
              <a:schemeClr val="accent1"/>
            </a:solidFill>
          </a:ln>
        </p:spPr>
      </p:pic>
      <p:pic>
        <p:nvPicPr>
          <p:cNvPr id="17" name="Picture 16">
            <a:extLst>
              <a:ext uri="{FF2B5EF4-FFF2-40B4-BE49-F238E27FC236}">
                <a16:creationId xmlns:a16="http://schemas.microsoft.com/office/drawing/2014/main" id="{208352B2-AF55-E72F-38B6-BA732383BBBD}"/>
              </a:ext>
            </a:extLst>
          </p:cNvPr>
          <p:cNvPicPr>
            <a:picLocks noChangeAspect="1"/>
          </p:cNvPicPr>
          <p:nvPr/>
        </p:nvPicPr>
        <p:blipFill>
          <a:blip r:embed="rId5"/>
          <a:stretch>
            <a:fillRect/>
          </a:stretch>
        </p:blipFill>
        <p:spPr>
          <a:xfrm>
            <a:off x="6670624" y="1149045"/>
            <a:ext cx="3777520" cy="2096131"/>
          </a:xfrm>
          <a:prstGeom prst="rect">
            <a:avLst/>
          </a:prstGeom>
        </p:spPr>
      </p:pic>
    </p:spTree>
    <p:extLst>
      <p:ext uri="{BB962C8B-B14F-4D97-AF65-F5344CB8AC3E}">
        <p14:creationId xmlns:p14="http://schemas.microsoft.com/office/powerpoint/2010/main" val="2784752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6A1EDE-7949-563E-9829-F0AFBACA321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A67DAA9-B042-1747-FAC4-E348F2B09A49}"/>
              </a:ext>
            </a:extLst>
          </p:cNvPr>
          <p:cNvSpPr/>
          <p:nvPr/>
        </p:nvSpPr>
        <p:spPr>
          <a:xfrm>
            <a:off x="0" y="-1"/>
            <a:ext cx="12192000" cy="863599"/>
          </a:xfrm>
          <a:prstGeom prst="rect">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5" name="Picture 2">
            <a:extLst>
              <a:ext uri="{FF2B5EF4-FFF2-40B4-BE49-F238E27FC236}">
                <a16:creationId xmlns:a16="http://schemas.microsoft.com/office/drawing/2014/main" id="{01457DD6-D98A-DDA1-E2C4-8B4A892CE3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6" y="6320969"/>
            <a:ext cx="515917" cy="51591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9FBDAEFC-1D15-5CC5-0457-97D3EB990FCA}"/>
              </a:ext>
            </a:extLst>
          </p:cNvPr>
          <p:cNvCxnSpPr>
            <a:cxnSpLocks/>
          </p:cNvCxnSpPr>
          <p:nvPr/>
        </p:nvCxnSpPr>
        <p:spPr>
          <a:xfrm>
            <a:off x="0" y="6265551"/>
            <a:ext cx="12192000" cy="0"/>
          </a:xfrm>
          <a:prstGeom prst="line">
            <a:avLst/>
          </a:prstGeom>
          <a:ln w="38100">
            <a:solidFill>
              <a:srgbClr val="DA251C"/>
            </a:solidFill>
          </a:ln>
        </p:spPr>
        <p:style>
          <a:lnRef idx="1">
            <a:schemeClr val="accent1"/>
          </a:lnRef>
          <a:fillRef idx="0">
            <a:schemeClr val="accent1"/>
          </a:fillRef>
          <a:effectRef idx="0">
            <a:schemeClr val="accent1"/>
          </a:effectRef>
          <a:fontRef idx="minor">
            <a:schemeClr val="tx1"/>
          </a:fontRef>
        </p:style>
      </p:cxnSp>
      <p:sp>
        <p:nvSpPr>
          <p:cNvPr id="12" name="Google Shape;405;p39">
            <a:extLst>
              <a:ext uri="{FF2B5EF4-FFF2-40B4-BE49-F238E27FC236}">
                <a16:creationId xmlns:a16="http://schemas.microsoft.com/office/drawing/2014/main" id="{F33F59D6-2A79-B35B-4764-850CEF5C913D}"/>
              </a:ext>
            </a:extLst>
          </p:cNvPr>
          <p:cNvSpPr txBox="1">
            <a:spLocks/>
          </p:cNvSpPr>
          <p:nvPr/>
        </p:nvSpPr>
        <p:spPr>
          <a:xfrm>
            <a:off x="571332" y="6320969"/>
            <a:ext cx="4838867"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marR="0" lvl="0" indent="0" algn="l" defTabSz="914400" rtl="0" eaLnBrk="1" fontAlgn="auto" latinLnBrk="0" hangingPunct="1">
              <a:lnSpc>
                <a:spcPct val="100000"/>
              </a:lnSpc>
              <a:spcBef>
                <a:spcPts val="0"/>
              </a:spcBef>
              <a:spcAft>
                <a:spcPts val="0"/>
              </a:spcAft>
              <a:buClr>
                <a:srgbClr val="13234B"/>
              </a:buClr>
              <a:buSzPts val="1400"/>
              <a:buFont typeface="Quicksand"/>
              <a:buNone/>
              <a:tabLst/>
              <a:defRPr/>
            </a:pPr>
            <a:r>
              <a:rPr kumimoji="0" lang="en-US" b="1" i="0" u="none" strike="noStrike" kern="0" cap="none" spc="0" normalizeH="0" baseline="0" noProof="0">
                <a:ln>
                  <a:noFill/>
                </a:ln>
                <a:solidFill>
                  <a:schemeClr val="tx1"/>
                </a:solidFill>
                <a:effectLst/>
                <a:uLnTx/>
                <a:uFillTx/>
                <a:latin typeface="Quicksand"/>
                <a:sym typeface="Quicksand"/>
              </a:rPr>
              <a:t>MK. Algoritma dan Pemrograman</a:t>
            </a:r>
          </a:p>
        </p:txBody>
      </p:sp>
      <p:sp>
        <p:nvSpPr>
          <p:cNvPr id="15" name="Google Shape;405;p39">
            <a:extLst>
              <a:ext uri="{FF2B5EF4-FFF2-40B4-BE49-F238E27FC236}">
                <a16:creationId xmlns:a16="http://schemas.microsoft.com/office/drawing/2014/main" id="{3D8BA10D-6148-9B4E-656A-9B51D62DAB56}"/>
              </a:ext>
            </a:extLst>
          </p:cNvPr>
          <p:cNvSpPr txBox="1">
            <a:spLocks/>
          </p:cNvSpPr>
          <p:nvPr/>
        </p:nvSpPr>
        <p:spPr>
          <a:xfrm>
            <a:off x="360218" y="189398"/>
            <a:ext cx="1147156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l">
              <a:buClr>
                <a:srgbClr val="13234B"/>
              </a:buClr>
              <a:defRPr/>
            </a:pPr>
            <a:r>
              <a:rPr lang="en-US" sz="3200" b="1" kern="0">
                <a:solidFill>
                  <a:schemeClr val="tx1"/>
                </a:solidFill>
              </a:rPr>
              <a:t>Example of Nested Loop Statement (Task 8)</a:t>
            </a:r>
          </a:p>
        </p:txBody>
      </p:sp>
      <p:sp>
        <p:nvSpPr>
          <p:cNvPr id="7" name="Oval 6">
            <a:extLst>
              <a:ext uri="{FF2B5EF4-FFF2-40B4-BE49-F238E27FC236}">
                <a16:creationId xmlns:a16="http://schemas.microsoft.com/office/drawing/2014/main" id="{6B745F16-2DCE-6DAC-95CD-F564A3E45CBE}"/>
              </a:ext>
            </a:extLst>
          </p:cNvPr>
          <p:cNvSpPr/>
          <p:nvPr/>
        </p:nvSpPr>
        <p:spPr>
          <a:xfrm>
            <a:off x="11536218" y="6320968"/>
            <a:ext cx="530871" cy="484799"/>
          </a:xfrm>
          <a:prstGeom prst="ellipse">
            <a:avLst/>
          </a:prstGeom>
          <a:solidFill>
            <a:srgbClr val="BFA0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8278550C-AAF5-4549-83FF-27D10888B33A}" type="slidenum">
              <a:rPr lang="en-US" sz="1400" b="1" smtClean="0">
                <a:solidFill>
                  <a:schemeClr val="tx1"/>
                </a:solidFill>
              </a:rPr>
              <a:t>18</a:t>
            </a:fld>
            <a:endParaRPr lang="en-ID" sz="1200" b="1">
              <a:solidFill>
                <a:schemeClr val="tx1"/>
              </a:solidFill>
            </a:endParaRPr>
          </a:p>
        </p:txBody>
      </p:sp>
      <p:sp>
        <p:nvSpPr>
          <p:cNvPr id="3" name="Google Shape;405;p39">
            <a:extLst>
              <a:ext uri="{FF2B5EF4-FFF2-40B4-BE49-F238E27FC236}">
                <a16:creationId xmlns:a16="http://schemas.microsoft.com/office/drawing/2014/main" id="{ECA50292-827B-0ACD-EB91-3BCA26D0AC97}"/>
              </a:ext>
            </a:extLst>
          </p:cNvPr>
          <p:cNvSpPr txBox="1">
            <a:spLocks/>
          </p:cNvSpPr>
          <p:nvPr/>
        </p:nvSpPr>
        <p:spPr>
          <a:xfrm>
            <a:off x="5956300" y="6320968"/>
            <a:ext cx="5533536"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1pPr>
            <a:lvl2pPr marL="914400" marR="0" lvl="1"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2pPr>
            <a:lvl3pPr marL="1371600" marR="0" lvl="2"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3pPr>
            <a:lvl4pPr marL="1828800" marR="0" lvl="3"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4pPr>
            <a:lvl5pPr marL="2286000" marR="0" lvl="4"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5pPr>
            <a:lvl6pPr marL="2743200" marR="0" lvl="5"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6pPr>
            <a:lvl7pPr marL="3200400" marR="0" lvl="6"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7pPr>
            <a:lvl8pPr marL="3657600" marR="0" lvl="7"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8pPr>
            <a:lvl9pPr marL="4114800" marR="0" lvl="8" indent="-317500" algn="l" rtl="0">
              <a:lnSpc>
                <a:spcPct val="100000"/>
              </a:lnSpc>
              <a:spcBef>
                <a:spcPts val="0"/>
              </a:spcBef>
              <a:spcAft>
                <a:spcPts val="0"/>
              </a:spcAft>
              <a:buClr>
                <a:schemeClr val="dk1"/>
              </a:buClr>
              <a:buSzPts val="1400"/>
              <a:buFont typeface="Quicksand"/>
              <a:buNone/>
              <a:defRPr sz="1400" b="0" i="0" u="none" strike="noStrike" cap="none">
                <a:solidFill>
                  <a:schemeClr val="dk1"/>
                </a:solidFill>
                <a:latin typeface="Quicksand"/>
                <a:ea typeface="Quicksand"/>
                <a:cs typeface="Quicksand"/>
                <a:sym typeface="Quicksand"/>
              </a:defRPr>
            </a:lvl9pPr>
          </a:lstStyle>
          <a:p>
            <a:pPr marL="0" lvl="0" indent="0" algn="r">
              <a:buClr>
                <a:srgbClr val="13234B"/>
              </a:buClr>
              <a:defRPr/>
            </a:pPr>
            <a:r>
              <a:rPr kumimoji="0" lang="en-US" b="1" i="0" u="none" strike="noStrike" kern="0" cap="none" spc="0" normalizeH="0" baseline="0" noProof="0">
                <a:ln>
                  <a:noFill/>
                </a:ln>
                <a:solidFill>
                  <a:srgbClr val="13234B"/>
                </a:solidFill>
                <a:effectLst/>
                <a:uLnTx/>
                <a:uFillTx/>
                <a:latin typeface="Quicksand"/>
                <a:sym typeface="Quicksand"/>
              </a:rPr>
              <a:t>Pert. 3 – </a:t>
            </a:r>
            <a:r>
              <a:rPr lang="id-ID"/>
              <a:t>Input dan Conditional Statement</a:t>
            </a:r>
            <a:endParaRPr kumimoji="0" lang="en-US" i="0" u="none" strike="noStrike" kern="0" cap="none" spc="0" normalizeH="0" baseline="0" noProof="0">
              <a:ln>
                <a:noFill/>
              </a:ln>
              <a:solidFill>
                <a:srgbClr val="13234B"/>
              </a:solidFill>
              <a:effectLst/>
              <a:uLnTx/>
              <a:uFillTx/>
              <a:latin typeface="Quicksand"/>
              <a:sym typeface="Quicksand"/>
            </a:endParaRPr>
          </a:p>
        </p:txBody>
      </p:sp>
      <p:pic>
        <p:nvPicPr>
          <p:cNvPr id="6" name="Picture 5">
            <a:extLst>
              <a:ext uri="{FF2B5EF4-FFF2-40B4-BE49-F238E27FC236}">
                <a16:creationId xmlns:a16="http://schemas.microsoft.com/office/drawing/2014/main" id="{C9DC6F8E-348B-D42C-0424-B1A70FCC9D9A}"/>
              </a:ext>
            </a:extLst>
          </p:cNvPr>
          <p:cNvPicPr>
            <a:picLocks noChangeAspect="1"/>
          </p:cNvPicPr>
          <p:nvPr/>
        </p:nvPicPr>
        <p:blipFill>
          <a:blip r:embed="rId4"/>
          <a:stretch>
            <a:fillRect/>
          </a:stretch>
        </p:blipFill>
        <p:spPr>
          <a:xfrm>
            <a:off x="712510" y="1702234"/>
            <a:ext cx="2298665" cy="1855268"/>
          </a:xfrm>
          <a:prstGeom prst="rect">
            <a:avLst/>
          </a:prstGeom>
          <a:ln>
            <a:solidFill>
              <a:schemeClr val="tx1"/>
            </a:solidFill>
          </a:ln>
        </p:spPr>
      </p:pic>
      <p:pic>
        <p:nvPicPr>
          <p:cNvPr id="13" name="Picture 12">
            <a:extLst>
              <a:ext uri="{FF2B5EF4-FFF2-40B4-BE49-F238E27FC236}">
                <a16:creationId xmlns:a16="http://schemas.microsoft.com/office/drawing/2014/main" id="{22DF2C2E-56E9-A038-454C-07CAFF8B78AA}"/>
              </a:ext>
            </a:extLst>
          </p:cNvPr>
          <p:cNvPicPr>
            <a:picLocks noChangeAspect="1"/>
          </p:cNvPicPr>
          <p:nvPr/>
        </p:nvPicPr>
        <p:blipFill>
          <a:blip r:embed="rId5"/>
          <a:stretch>
            <a:fillRect/>
          </a:stretch>
        </p:blipFill>
        <p:spPr>
          <a:xfrm>
            <a:off x="4115875" y="1593227"/>
            <a:ext cx="2298665" cy="1826887"/>
          </a:xfrm>
          <a:prstGeom prst="rect">
            <a:avLst/>
          </a:prstGeom>
          <a:ln>
            <a:solidFill>
              <a:schemeClr val="tx1"/>
            </a:solidFill>
          </a:ln>
        </p:spPr>
      </p:pic>
      <p:pic>
        <p:nvPicPr>
          <p:cNvPr id="18" name="Picture 17">
            <a:extLst>
              <a:ext uri="{FF2B5EF4-FFF2-40B4-BE49-F238E27FC236}">
                <a16:creationId xmlns:a16="http://schemas.microsoft.com/office/drawing/2014/main" id="{D5442E3C-5DE5-0B26-0C2B-0BC45B59FB9A}"/>
              </a:ext>
            </a:extLst>
          </p:cNvPr>
          <p:cNvPicPr>
            <a:picLocks noChangeAspect="1"/>
          </p:cNvPicPr>
          <p:nvPr/>
        </p:nvPicPr>
        <p:blipFill>
          <a:blip r:embed="rId6"/>
          <a:stretch>
            <a:fillRect/>
          </a:stretch>
        </p:blipFill>
        <p:spPr>
          <a:xfrm>
            <a:off x="7671061" y="1654182"/>
            <a:ext cx="3295650" cy="1704975"/>
          </a:xfrm>
          <a:prstGeom prst="rect">
            <a:avLst/>
          </a:prstGeom>
          <a:ln>
            <a:solidFill>
              <a:schemeClr val="tx1"/>
            </a:solidFill>
          </a:ln>
        </p:spPr>
      </p:pic>
      <p:pic>
        <p:nvPicPr>
          <p:cNvPr id="21" name="Picture 20">
            <a:extLst>
              <a:ext uri="{FF2B5EF4-FFF2-40B4-BE49-F238E27FC236}">
                <a16:creationId xmlns:a16="http://schemas.microsoft.com/office/drawing/2014/main" id="{EA87B6CB-4F2F-02B4-C6A9-F7901CED6F9D}"/>
              </a:ext>
            </a:extLst>
          </p:cNvPr>
          <p:cNvPicPr>
            <a:picLocks noChangeAspect="1"/>
          </p:cNvPicPr>
          <p:nvPr/>
        </p:nvPicPr>
        <p:blipFill>
          <a:blip r:embed="rId7"/>
          <a:stretch>
            <a:fillRect/>
          </a:stretch>
        </p:blipFill>
        <p:spPr>
          <a:xfrm>
            <a:off x="2591875" y="3966532"/>
            <a:ext cx="3048000" cy="1752600"/>
          </a:xfrm>
          <a:prstGeom prst="rect">
            <a:avLst/>
          </a:prstGeom>
          <a:ln>
            <a:solidFill>
              <a:schemeClr val="tx1"/>
            </a:solidFill>
          </a:ln>
        </p:spPr>
      </p:pic>
      <p:pic>
        <p:nvPicPr>
          <p:cNvPr id="23" name="Picture 22">
            <a:extLst>
              <a:ext uri="{FF2B5EF4-FFF2-40B4-BE49-F238E27FC236}">
                <a16:creationId xmlns:a16="http://schemas.microsoft.com/office/drawing/2014/main" id="{28116503-4075-6A25-D36F-77466229DB60}"/>
              </a:ext>
            </a:extLst>
          </p:cNvPr>
          <p:cNvPicPr>
            <a:picLocks noChangeAspect="1"/>
          </p:cNvPicPr>
          <p:nvPr/>
        </p:nvPicPr>
        <p:blipFill>
          <a:blip r:embed="rId8"/>
          <a:stretch>
            <a:fillRect/>
          </a:stretch>
        </p:blipFill>
        <p:spPr>
          <a:xfrm>
            <a:off x="6732597" y="3898260"/>
            <a:ext cx="2957764" cy="1884127"/>
          </a:xfrm>
          <a:prstGeom prst="rect">
            <a:avLst/>
          </a:prstGeom>
          <a:ln>
            <a:solidFill>
              <a:schemeClr val="tx1"/>
            </a:solidFill>
          </a:ln>
        </p:spPr>
      </p:pic>
    </p:spTree>
    <p:extLst>
      <p:ext uri="{BB962C8B-B14F-4D97-AF65-F5344CB8AC3E}">
        <p14:creationId xmlns:p14="http://schemas.microsoft.com/office/powerpoint/2010/main" val="279276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1414</TotalTime>
  <Words>912</Words>
  <Application>Microsoft Office PowerPoint</Application>
  <PresentationFormat>Widescreen</PresentationFormat>
  <Paragraphs>151</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Menlo</vt:lpstr>
      <vt:lpstr>Quicksand</vt:lpstr>
      <vt:lpstr>quote-cjk-patch</vt:lpstr>
      <vt:lpstr>Office Theme</vt:lpstr>
      <vt:lpstr>TT25-21001  ALGORITMA DAN PEMROGRAMAN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Soraida Sabella</dc:creator>
  <cp:lastModifiedBy>Soraida Sabella</cp:lastModifiedBy>
  <cp:revision>110</cp:revision>
  <dcterms:created xsi:type="dcterms:W3CDTF">2025-06-20T02:52:08Z</dcterms:created>
  <dcterms:modified xsi:type="dcterms:W3CDTF">2025-09-16T02:15:25Z</dcterms:modified>
</cp:coreProperties>
</file>